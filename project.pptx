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7"/>
  </p:notesMasterIdLst>
  <p:sldIdLst>
    <p:sldId id="256" r:id="rId5"/>
    <p:sldId id="911" r:id="rId6"/>
    <p:sldId id="906" r:id="rId7"/>
    <p:sldId id="951" r:id="rId8"/>
    <p:sldId id="955" r:id="rId9"/>
    <p:sldId id="952" r:id="rId10"/>
    <p:sldId id="960" r:id="rId11"/>
    <p:sldId id="961" r:id="rId12"/>
    <p:sldId id="962" r:id="rId13"/>
    <p:sldId id="959" r:id="rId14"/>
    <p:sldId id="953" r:id="rId15"/>
    <p:sldId id="954" r:id="rId16"/>
    <p:sldId id="963" r:id="rId17"/>
    <p:sldId id="964" r:id="rId18"/>
    <p:sldId id="956" r:id="rId19"/>
    <p:sldId id="965" r:id="rId20"/>
    <p:sldId id="968" r:id="rId21"/>
    <p:sldId id="966" r:id="rId22"/>
    <p:sldId id="969" r:id="rId23"/>
    <p:sldId id="967" r:id="rId24"/>
    <p:sldId id="957" r:id="rId25"/>
    <p:sldId id="970" r:id="rId26"/>
    <p:sldId id="971" r:id="rId27"/>
    <p:sldId id="972" r:id="rId28"/>
    <p:sldId id="973" r:id="rId29"/>
    <p:sldId id="980" r:id="rId30"/>
    <p:sldId id="974" r:id="rId31"/>
    <p:sldId id="976" r:id="rId32"/>
    <p:sldId id="975" r:id="rId33"/>
    <p:sldId id="977" r:id="rId34"/>
    <p:sldId id="978" r:id="rId35"/>
    <p:sldId id="979" r:id="rId3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3AF53FCA-F451-4FA6-A850-6BB9A141E065}">
          <p14:sldIdLst>
            <p14:sldId id="256"/>
            <p14:sldId id="911"/>
            <p14:sldId id="906"/>
            <p14:sldId id="951"/>
            <p14:sldId id="955"/>
            <p14:sldId id="952"/>
            <p14:sldId id="960"/>
            <p14:sldId id="961"/>
            <p14:sldId id="962"/>
            <p14:sldId id="959"/>
            <p14:sldId id="953"/>
            <p14:sldId id="954"/>
            <p14:sldId id="963"/>
            <p14:sldId id="964"/>
            <p14:sldId id="956"/>
            <p14:sldId id="965"/>
            <p14:sldId id="968"/>
            <p14:sldId id="966"/>
            <p14:sldId id="969"/>
            <p14:sldId id="967"/>
            <p14:sldId id="957"/>
            <p14:sldId id="970"/>
            <p14:sldId id="971"/>
            <p14:sldId id="972"/>
            <p14:sldId id="973"/>
            <p14:sldId id="980"/>
            <p14:sldId id="974"/>
            <p14:sldId id="976"/>
            <p14:sldId id="975"/>
            <p14:sldId id="977"/>
            <p14:sldId id="978"/>
            <p14:sldId id="979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FBFBF"/>
    <a:srgbClr val="F2F2F2"/>
    <a:srgbClr val="7F7F7F"/>
    <a:srgbClr val="A6A6A6"/>
    <a:srgbClr val="AF272F"/>
    <a:srgbClr val="0000FF"/>
    <a:srgbClr val="A0B4E6"/>
    <a:srgbClr val="0989B1"/>
    <a:srgbClr val="5A5A5A"/>
    <a:srgbClr val="DE5F4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D334714-25F5-468B-8F9D-738ACD3E6147}" v="2043" dt="2025-10-23T00:12:53.464"/>
    <p1510:client id="{5EF57EF1-DC14-4C7C-994B-9B2E95963B4C}" v="3766" dt="2025-10-22T16:57:28.046"/>
    <p1510:client id="{A6550C1D-C71E-6CC2-EB66-8E565EAF8A4B}" v="1333" dt="2025-10-22T04:43:57.68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388" autoAdjust="0"/>
    <p:restoredTop sz="94660"/>
  </p:normalViewPr>
  <p:slideViewPr>
    <p:cSldViewPr snapToGrid="0">
      <p:cViewPr varScale="1">
        <p:scale>
          <a:sx n="91" d="100"/>
          <a:sy n="91" d="100"/>
        </p:scale>
        <p:origin x="637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viewProps" Target="view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microsoft.com/office/2015/10/relationships/revisionInfo" Target="revisionInfo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781F80-B15E-41F6-A1CF-D6E66AF02F05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52F6F8-CF53-42CD-A5D9-9ED53F4011E1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바닥글 개체 틀 8">
            <a:extLst>
              <a:ext uri="{FF2B5EF4-FFF2-40B4-BE49-F238E27FC236}">
                <a16:creationId xmlns:a16="http://schemas.microsoft.com/office/drawing/2014/main" id="{BBE45AD4-92C1-E0D1-9DDD-54046719DA2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70970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F2030D-1A31-87F0-70C5-E7DE90155C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E308AE6-56E4-764D-8495-E33AF162B6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B65E052-52B7-E040-7E57-95A0DC094A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D21B1EC-89BE-86F9-7093-8C60089F1D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F5556F-255A-4CA4-9A6B-886DE3FF96D7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47477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B6C483-0045-28B9-BCBF-3E087EB569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5556378-1BDE-E744-95CC-4AC63E0F65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A5D6EE9-55F4-8483-473D-8DFC803F98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34943A-3AA8-FE66-3A5D-4157A1301A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F5556F-255A-4CA4-9A6B-886DE3FF96D7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17294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816DD9-4B8E-A3A6-4C15-E64B93A3FC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3D7E8BD-A7AC-0B89-9B84-D4B1613293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FA1746D-B6F8-85BE-20D8-FB1316BC64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8425C6D-F921-AFFE-2C2B-DFCE7F726F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F5556F-255A-4CA4-9A6B-886DE3FF96D7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70843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A41CCC-FDD4-CC12-0D4E-813809EAE2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A368232-F849-57C7-9FA8-6192A97396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2C360F4-DC7D-D827-75D2-A2339C3465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DAC8ADE-7875-3C55-040A-2D19ADC221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F5556F-255A-4CA4-9A6B-886DE3FF96D7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70287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6750FC-776D-C2E6-B5E9-A022C77CE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90D52B0-25B5-1D5F-D068-553BB03557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BCCF7D9-FFCE-69DD-A912-B228FF838B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A2234A-72A8-DF6D-6A23-9CA023904D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F5556F-255A-4CA4-9A6B-886DE3FF96D7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77087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88A848-FD2B-322C-EEE2-6CB119218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4E2B7C9-E33C-3772-F8F5-A9DFF8D267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00F3B85-76DD-66FB-2DB5-B3B07C2B6E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0DF9DA8-0ED4-350D-CF2E-1E58D02B36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F5556F-255A-4CA4-9A6B-886DE3FF96D7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33418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BF3D90-50F6-A82A-E212-9791DF0B4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714635E-C22D-7955-204C-57842464DE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63BE75E-B97E-E2E4-5DA2-9F44D9EFE8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A1E0C74-45F9-F79F-2ED7-1665A47D62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F5556F-255A-4CA4-9A6B-886DE3FF96D7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6020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A210F1-BD0A-E595-8559-1C3CBD6682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6C148AF-7551-92FD-AED1-13FDED7730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F356D10-B786-8AEB-80DB-79B08FDBB5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A65C46-0015-51D9-F4DC-33791486CD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F5556F-255A-4CA4-9A6B-886DE3FF96D7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23305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05D55D-04C0-F523-AC43-E00256562A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C7B773B-1549-0771-E977-75C6241970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CAE9213-91B7-0B22-81E5-7E40E4AA21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650FA3C-BE97-122E-BF2F-B663AAFEAD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F5556F-255A-4CA4-9A6B-886DE3FF96D7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53063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152D19-4DB1-6E6C-993B-4DB72121EC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ECA1B8D-5F6F-1382-29DE-06FB43CA88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B72DC2D-7163-D191-AAD1-AB9AFA5BC4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FD273BB-B9C3-D687-22C3-7B93F4FA90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F5556F-255A-4CA4-9A6B-886DE3FF96D7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99532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0B8291-C206-9B5F-7749-663A5E46A4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273FAD3-8E89-D00E-2A90-79AAB20B58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5BF01FC-174C-DA25-2E16-7B83FC9267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FE6B439-B244-CC66-404C-81B916E18E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F5556F-255A-4CA4-9A6B-886DE3FF96D7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895037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9768F6-E8F5-AD35-FE85-7672A86C1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07FF842-FC23-5B25-E71F-6B414DBF0C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FB3AE52-C839-56EA-59C0-4D38C95D8D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0697689-27CF-FD7C-6CBF-EE3D918E2C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F5556F-255A-4CA4-9A6B-886DE3FF96D7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588559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8B1390-737A-12C9-4E37-74D800A7C1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A06561C-B1DC-CB91-F6DC-54A38B0A2F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7BB9221-F8A4-641D-B95B-B42E5FBAB7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7480239-2C95-65E7-3491-2A828BC8BB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F5556F-255A-4CA4-9A6B-886DE3FF96D7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410366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19DA6D-F1DE-DFB3-DFE8-353389D52B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D00E28A-3611-DDBB-2AD3-F7AD86F517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51E0B52-933A-1BE4-3BEE-1927BC184D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ED3C2C9-0891-6817-B26C-7CF5E5F356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F5556F-255A-4CA4-9A6B-886DE3FF96D7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285627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1F1A1D-3AB1-3AE4-9419-B37023FEBB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060FD34-8236-806E-F9AC-D08A6726D0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09CF43F-A1BF-37A0-59E5-9DCFFD8020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7892320-041F-8430-4CBA-CC6954C6DE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F5556F-255A-4CA4-9A6B-886DE3FF96D7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079348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56A80F-C876-A0C6-2323-5A8B64B56D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CADAB7A-EA67-BDF1-02F6-CD470B8251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32BCA94-910E-57AE-BCFD-54C53C55BD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E88EEFE-BACF-9D7E-9262-1E43EDF2A1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F5556F-255A-4CA4-9A6B-886DE3FF96D7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046417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018D5-803D-4DCD-1669-4885CC3FF8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0E0EA2D-908D-CA04-0177-5EEF3827B2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DF5AE7C-AA75-BF1A-3824-7C97D91927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00C30D3-4278-8D26-41DE-1C76336A9C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F5556F-255A-4CA4-9A6B-886DE3FF96D7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353602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DB10C5-30EF-6F5A-CB28-3F4FC7FFBB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F182D76-9704-C436-271D-5552A6EF73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9C1B5AC-596A-D6F8-14D8-441087F596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3699D3D-75DD-9D9A-B50B-DEB0E1C247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F5556F-255A-4CA4-9A6B-886DE3FF96D7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311259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2016F-6653-7060-F888-0048591C6F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3FA8E72-C1B2-3042-5372-560D2E3538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4E87697-1713-6107-0E35-08AE68DAAB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9AD74DC-0E1A-9EE8-3524-E9EA9710E9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F5556F-255A-4CA4-9A6B-886DE3FF96D7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415038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DBAD6A-0E91-8CB1-130E-3E3146162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BFF66B2-E276-C280-8A33-56486A1247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E353080-05CD-4536-0315-7D199EB5D4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D8EDD7C-3264-17FD-1656-80BF87598A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F5556F-255A-4CA4-9A6B-886DE3FF96D7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75345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8DC0A4-C3B7-B3BD-74F0-639F682BC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9E1BF2A-D6CC-9FE2-9AA8-B2DE85FE67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6D7C2DD-1D4E-4659-73B0-E927CA8B42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EA6662A-1318-61A0-6089-4793A839DA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F5556F-255A-4CA4-9A6B-886DE3FF96D7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79916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6A92FD-1417-C9FD-FCEC-A7C35BE69C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953E0B2-B4FC-2498-1E9B-F5B775D915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201E5BB-8B91-0B1C-934F-AE23039190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4EEEC56-CCC6-7FD3-8F17-B280AB91BE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F5556F-255A-4CA4-9A6B-886DE3FF96D7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399176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FFB11A-09E9-0B2F-C2B0-8AACA7776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BA5FF8D-B0BD-0D9A-A77E-506840D7C8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E2CA825-EDE3-370E-50E2-6A90154EBB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D4F2C05-33E2-7B3E-BAB5-D2565D874F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F5556F-255A-4CA4-9A6B-886DE3FF96D7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275370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C4F48B-5AAD-A677-83E1-AA225C8C5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F3009BC-CC47-C5CB-5B01-36722961D9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A960BC5-C6AA-0DD2-4620-7E6DD8065B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9C7393E-8262-EB2A-6632-A9AAD3ABA3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F5556F-255A-4CA4-9A6B-886DE3FF96D7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63660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9865DB-C373-D2BD-760E-F5A44F8349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11C01F3-AEFB-7462-2617-FD30F7FFB4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BB464A3-A252-8A3E-DB50-7814F09789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55A7D6A-94FC-F72C-602D-B0D9686CDF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F5556F-255A-4CA4-9A6B-886DE3FF96D7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866662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51C536-A63C-D4AE-0A64-950BADA94F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876545B-FC91-CD95-500C-7C3EA58129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B41B0C7-CCAC-4584-D3C7-61588A57AF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F6D83FC-7F5F-194E-6670-D50B454F4C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F5556F-255A-4CA4-9A6B-886DE3FF96D7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288884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BE96A1-E324-D9D6-A93F-9C9290C148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41C9AA0-643E-5F9D-A2AD-0A597E4522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C5FF33-3A35-52B4-A5E8-49E113D92A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E86A87D-2D65-00B2-6EB2-391EE21153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F5556F-255A-4CA4-9A6B-886DE3FF96D7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755760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389383-5143-4AA4-F338-61AB7D0CB1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8FCA4F4-286B-B116-6614-CA96E61BB4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491A0C3-0569-9E0E-6F5A-1C05EC9C5B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F07E3D7-5696-39A4-EF40-E3263E9E1E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F5556F-255A-4CA4-9A6B-886DE3FF96D7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044923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4B0DB7-254A-5087-729A-432B832CA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D9487E1-855A-7566-3327-005EAAA8FE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6AEFC43-B2C0-05E8-559F-E9EA0150CE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0637D0-A943-04B4-6795-0259A4FCBE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F5556F-255A-4CA4-9A6B-886DE3FF96D7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264023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911802-074D-C7FD-38F6-2629CC2C11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D0C19C6-8BB9-D6CE-DD01-E8654CB008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22DB2AC-75F9-D3DC-96C9-3749096198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5C586D3-BDB3-D337-F8A2-40843A2057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F5556F-255A-4CA4-9A6B-886DE3FF96D7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015567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21893B-6736-63E8-1B35-EED584DDAE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6012DA6-8A30-380E-B5B4-3A54CDD259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75913A0-3B3A-1A29-BCEC-43F5F86C26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B09419A-ABD8-F1CB-B797-D8C119F64B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F5556F-255A-4CA4-9A6B-886DE3FF96D7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97966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7F34CC-35DD-E38D-F61D-092BE3EEAD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68D20E2-BB30-58B0-143D-B942C7E7C9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E39EED5-5E15-5AC6-F969-5A52A5C4715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4784" y="6356350"/>
            <a:ext cx="3050032" cy="36512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82A17EC-775C-6F94-68CE-B7BDA1A21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Sogang</a:t>
            </a:r>
            <a:r>
              <a:rPr lang="en-US" altLang="ko-KR">
                <a:solidFill>
                  <a:schemeClr val="accent2">
                    <a:lumMod val="60000"/>
                    <a:lumOff val="40000"/>
                  </a:schemeClr>
                </a:solidFill>
              </a:rPr>
              <a:t> University</a:t>
            </a:r>
            <a:r>
              <a:rPr lang="en-US" altLang="ko-KR"/>
              <a:t> Visual Computing Lab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6783D0B-1E95-A053-37C3-50720115E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768A3-AC29-4B30-B97D-8EE275BA7D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50505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A88A3F-DEAB-3F2F-AF47-2758CC5635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55695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F3CA91B-533D-3CCC-DE88-11F3F5D879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90" y="1002890"/>
            <a:ext cx="12015020" cy="580802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6C05A33-CCDC-CE1F-9DDF-B7C5F3010B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EE19812-7CD2-06A0-E480-61994FD5F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err="1"/>
              <a:t>Sogang</a:t>
            </a:r>
            <a:r>
              <a:rPr lang="en-US" altLang="ko-KR"/>
              <a:t> University Visual Computing Lab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41FEB47-63BC-AC60-D3ED-8CFD1EB06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768A3-AC29-4B30-B97D-8EE275BA7DF4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5C4DFEF1-A747-992D-E0D5-BAF10ECB2E9C}"/>
              </a:ext>
            </a:extLst>
          </p:cNvPr>
          <p:cNvCxnSpPr>
            <a:cxnSpLocks/>
          </p:cNvCxnSpPr>
          <p:nvPr userDrawn="1"/>
        </p:nvCxnSpPr>
        <p:spPr>
          <a:xfrm>
            <a:off x="88490" y="798163"/>
            <a:ext cx="12015020" cy="0"/>
          </a:xfrm>
          <a:prstGeom prst="line">
            <a:avLst/>
          </a:prstGeom>
          <a:ln w="19050">
            <a:solidFill>
              <a:srgbClr val="AF272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18394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5574AF-76D3-BBB1-42C0-F7646A1382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18215ED-DEFF-B1B3-55F7-03EBDD58E6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85AD432-084C-9D0C-704C-987F2F305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1725596-CE71-1FB6-AD08-FD2D4F53B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Sogang University Visual Computing Lab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D92132C-E8BF-0C46-7864-526623F1A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768A3-AC29-4B30-B97D-8EE275BA7D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92812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D1D873-8099-44BB-2772-5328270EAE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F03779D-FB7E-91A5-E453-8812662FB7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C5BA452-B3E4-3631-BA8A-09AB6B1F0A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9B77201-70A5-EBA7-5519-849787EF0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2399677-F585-BB97-532E-A1411CD4C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Sogang University Visual Computing Lab</a:t>
            </a: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C801442-1ACF-3AB2-E39E-14D9A0A79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768A3-AC29-4B30-B97D-8EE275BA7D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82231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CB7CA1-A334-5EA4-BFFD-672C533AE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797AA9E-ED4E-9B5B-BF1B-CC2424FF7A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57CBBDD-017E-28C8-716E-B72D60026F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4E15E1E-6001-FBC1-3A1A-D8285F06DA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0A7BFA8-DD8F-D297-F1E5-4AD41C0678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5B7F0A4-BF4B-9E98-65F7-4107E49645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5408051-C787-3626-AB9E-D53F856A47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Sogang University Visual Computing Lab</a:t>
            </a:r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A8BD02A-1C05-B241-2170-5C4A73801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768A3-AC29-4B30-B97D-8EE275BA7D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22860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575EB8-8682-E6BB-CB9C-1EB157EC0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C6506E3-EAF1-EADD-4BEC-3DD6C9135A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7C87862-31ED-70C4-517E-063FA1E6D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Sogang University Visual Computing Lab</a:t>
            </a:r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3E78A17-F39D-BF33-4D7A-EE567460C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768A3-AC29-4B30-B97D-8EE275BA7D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1294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669BBB2-9011-9BF3-97B9-2E52B6B0D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4D76F7D-39C3-037F-273B-3B72B872EF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Sogang University Visual Computing Lab</a:t>
            </a: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50CB46A-1734-8B69-C7CB-010868C27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768A3-AC29-4B30-B97D-8EE275BA7D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63624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00BE29-F5E3-D8C2-3626-33DC81C431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27793BE-B5BF-B446-B14C-4A5C70A7BD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D046DAD-5481-93AA-04DB-187B65F403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E818690-5C99-9240-170F-92405143A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3DB9EB4-539A-1AC6-6F61-4B0E272C0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Sogang University Visual Computing Lab</a:t>
            </a: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DDA1C42-3728-91AD-613B-C15DFA083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768A3-AC29-4B30-B97D-8EE275BA7D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26690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DC1281-412D-0606-7DEC-D91AD4632D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F234765-FA34-C7A7-3473-A2864659DD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5AC4EA5-F357-7A3D-27DA-970E32E02A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569B7A3-1C13-D746-7FE0-8363FC541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D56A5D0-724D-6656-0DF8-DD393DC79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Sogang University Visual Computing Lab</a:t>
            </a: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DEE13FB-93D4-0C28-7470-E4BE0D8D4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768A3-AC29-4B30-B97D-8EE275BA7D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75085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6F4730-B5A8-6EF9-0257-308003049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FA89C35-ED77-4434-CD85-75D929B270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399B7FB-3F76-6FF8-4743-AD29CA1EBB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106F50A-C950-822F-EA36-D0FB616A3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Sogang University Visual Computing Lab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A8A7880-2195-E6A8-BA1F-4611A4E5C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768A3-AC29-4B30-B97D-8EE275BA7D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29651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ED7A2C9-8AAF-4B4D-2A00-5A68C9045F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5865F69-DA00-72F9-7629-5446BBB12E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12990DE-7DA9-CC6B-798C-142C72734A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AB5E78A-BB03-D97B-E108-01C15CA81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Sogang University Visual Computing Lab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5145795-F1E7-DA8E-5D9B-3A3844031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768A3-AC29-4B30-B97D-8EE275BA7D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7600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D8001A3-63A8-68E5-62B0-AAF95ABE6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F74715B-C956-1904-963F-AAEC4E0E98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30BA798-3854-CBA7-E81C-800BC9F914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D0E03E8-07AD-74D8-E195-97FF874A8B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ko-KR"/>
              <a:t>Sogang University Visual Computing Lab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45BC060-E1DF-C553-3AE1-9E5AEDCBAC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7768A3-AC29-4B30-B97D-8EE275BA7D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06538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0D0337-A284-FEFC-8550-7099468296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0338" y="1122363"/>
            <a:ext cx="11251324" cy="2387600"/>
          </a:xfrm>
        </p:spPr>
        <p:txBody>
          <a:bodyPr>
            <a:normAutofit/>
          </a:bodyPr>
          <a:lstStyle/>
          <a:p>
            <a:r>
              <a:rPr lang="en-US" altLang="ko-KR" sz="4400" dirty="0">
                <a:solidFill>
                  <a:schemeClr val="tx1"/>
                </a:solidFill>
              </a:rPr>
              <a:t>AIE5101 </a:t>
            </a:r>
            <a:r>
              <a:rPr lang="ko-KR" altLang="en-US" sz="4400" dirty="0">
                <a:solidFill>
                  <a:schemeClr val="tx1"/>
                </a:solidFill>
              </a:rPr>
              <a:t>프로젝트 보고서</a:t>
            </a:r>
            <a:endParaRPr lang="en-US" altLang="ko-KR" sz="4400" dirty="0">
              <a:solidFill>
                <a:schemeClr val="tx1"/>
              </a:solidFill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435B2F5-6318-D214-52DB-DCB617786D9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altLang="ko-KR" b="1" dirty="0"/>
              <a:t>GNN </a:t>
            </a:r>
            <a:r>
              <a:rPr lang="ko-KR" altLang="ko-KR" b="1" dirty="0"/>
              <a:t>기반</a:t>
            </a:r>
            <a:r>
              <a:rPr lang="en-US" altLang="ko-KR" b="1" dirty="0"/>
              <a:t> PPO </a:t>
            </a:r>
            <a:r>
              <a:rPr lang="ko-KR" altLang="ko-KR" b="1" dirty="0"/>
              <a:t>강화학습을 이용한 </a:t>
            </a:r>
            <a:r>
              <a:rPr lang="ko-KR" altLang="ko-KR" b="1" dirty="0" err="1"/>
              <a:t>스도쿠</a:t>
            </a:r>
            <a:r>
              <a:rPr lang="ko-KR" altLang="ko-KR" b="1" dirty="0"/>
              <a:t> 퍼즐 자동 풀이</a:t>
            </a:r>
            <a:endParaRPr lang="ko-KR" altLang="ko-KR" dirty="0"/>
          </a:p>
          <a:p>
            <a:r>
              <a:rPr lang="en-US" altLang="ko-KR" dirty="0"/>
              <a:t>120250395 </a:t>
            </a:r>
            <a:r>
              <a:rPr lang="ko-KR" altLang="ko-KR" dirty="0"/>
              <a:t>임대규</a:t>
            </a:r>
            <a:endParaRPr lang="en-US" altLang="ko-KR" dirty="0"/>
          </a:p>
          <a:p>
            <a:r>
              <a:rPr lang="en-US" altLang="ko-KR" dirty="0"/>
              <a:t>Git: https://github.com/meogyu/AIE5101.git</a:t>
            </a:r>
            <a:endParaRPr lang="ko-KR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7342483-1104-6CB9-C7F2-CBE44852F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768A3-AC29-4B30-B97D-8EE275BA7DF4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87461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5C40A1-3A91-E63E-40DD-878E20C225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>
            <a:extLst>
              <a:ext uri="{FF2B5EF4-FFF2-40B4-BE49-F238E27FC236}">
                <a16:creationId xmlns:a16="http://schemas.microsoft.com/office/drawing/2014/main" id="{3B25C289-5ECA-1769-5C62-1B39F83896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55695"/>
          </a:xfrm>
        </p:spPr>
        <p:txBody>
          <a:bodyPr>
            <a:normAutofit/>
          </a:bodyPr>
          <a:lstStyle/>
          <a:p>
            <a:r>
              <a:rPr lang="ko-KR" altLang="en-US">
                <a:solidFill>
                  <a:schemeClr val="tx1"/>
                </a:solidFill>
              </a:rPr>
              <a:t>목차</a:t>
            </a:r>
            <a:endParaRPr lang="en-US" altLang="ko-KR">
              <a:solidFill>
                <a:schemeClr val="tx1"/>
              </a:solidFill>
            </a:endParaRPr>
          </a:p>
        </p:txBody>
      </p:sp>
      <p:sp>
        <p:nvSpPr>
          <p:cNvPr id="2" name="슬라이드 번호 개체 틀 4">
            <a:extLst>
              <a:ext uri="{FF2B5EF4-FFF2-40B4-BE49-F238E27FC236}">
                <a16:creationId xmlns:a16="http://schemas.microsoft.com/office/drawing/2014/main" id="{DA7D54CD-F802-07F6-8E5F-7D611D976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167768A3-AC29-4B30-B97D-8EE275BA7DF4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5F90FD74-E0F9-032B-C630-620FD5F866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45" y="864973"/>
            <a:ext cx="12103510" cy="5927713"/>
          </a:xfrm>
        </p:spPr>
        <p:txBody>
          <a:bodyPr>
            <a:noAutofit/>
          </a:bodyPr>
          <a:lstStyle/>
          <a:p>
            <a:r>
              <a:rPr lang="en-US" altLang="ko-KR" b="1" dirty="0"/>
              <a:t>1. </a:t>
            </a:r>
            <a:r>
              <a:rPr lang="ko-KR" altLang="ko-KR" b="1" dirty="0"/>
              <a:t>연구 목적</a:t>
            </a:r>
            <a:endParaRPr lang="en-US" altLang="ko-KR" b="1" dirty="0"/>
          </a:p>
          <a:p>
            <a:r>
              <a:rPr lang="en-US" altLang="ko-KR" b="1" dirty="0"/>
              <a:t>2. </a:t>
            </a:r>
            <a:r>
              <a:rPr lang="ko-KR" altLang="ko-KR" b="1" dirty="0"/>
              <a:t>환경 및 문제 설계 </a:t>
            </a:r>
            <a:endParaRPr lang="ko-KR" altLang="ko-KR" dirty="0"/>
          </a:p>
          <a:p>
            <a:r>
              <a:rPr lang="en-US" altLang="ko-KR" b="1" dirty="0"/>
              <a:t>3. </a:t>
            </a:r>
            <a:r>
              <a:rPr lang="ko-KR" altLang="ko-KR" b="1" dirty="0"/>
              <a:t>강화학습 알고리즘 설계 </a:t>
            </a:r>
            <a:endParaRPr lang="en-US" altLang="ko-KR" b="1" dirty="0"/>
          </a:p>
          <a:p>
            <a:r>
              <a:rPr lang="en-US" altLang="ko-KR" b="1" dirty="0"/>
              <a:t>4. </a:t>
            </a:r>
            <a:r>
              <a:rPr lang="ko-KR" altLang="ko-KR" b="1" dirty="0"/>
              <a:t>실험 셋업</a:t>
            </a:r>
            <a:endParaRPr lang="ko-KR" altLang="ko-KR" dirty="0"/>
          </a:p>
          <a:p>
            <a:r>
              <a:rPr lang="en-US" altLang="ko-KR" b="1" dirty="0"/>
              <a:t>5. </a:t>
            </a:r>
            <a:r>
              <a:rPr lang="ko-KR" altLang="ko-KR" b="1" dirty="0"/>
              <a:t>실험 결과 </a:t>
            </a:r>
            <a:endParaRPr lang="ko-KR" altLang="ko-KR" dirty="0"/>
          </a:p>
          <a:p>
            <a:r>
              <a:rPr lang="en-US" altLang="ko-KR" b="1" dirty="0"/>
              <a:t>6. </a:t>
            </a:r>
            <a:r>
              <a:rPr lang="ko-KR" altLang="ko-KR" b="1" dirty="0"/>
              <a:t>토의 및 결론</a:t>
            </a:r>
            <a:endParaRPr lang="en-US" altLang="ko-KR" sz="16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ko-KR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04303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7A7F2D-606A-8487-0A95-1E24C87900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>
            <a:extLst>
              <a:ext uri="{FF2B5EF4-FFF2-40B4-BE49-F238E27FC236}">
                <a16:creationId xmlns:a16="http://schemas.microsoft.com/office/drawing/2014/main" id="{B3439630-9B97-AD15-08A6-40C7BC6BE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55695"/>
          </a:xfrm>
        </p:spPr>
        <p:txBody>
          <a:bodyPr>
            <a:normAutofit/>
          </a:bodyPr>
          <a:lstStyle/>
          <a:p>
            <a:r>
              <a:rPr lang="en-US" altLang="ko-KR" b="1" dirty="0"/>
              <a:t>1. </a:t>
            </a:r>
            <a:r>
              <a:rPr lang="ko-KR" altLang="ko-KR" b="1" dirty="0"/>
              <a:t>연구 목적</a:t>
            </a:r>
            <a:endParaRPr lang="en-US" altLang="ko-KR" b="1" dirty="0"/>
          </a:p>
        </p:txBody>
      </p:sp>
      <p:sp>
        <p:nvSpPr>
          <p:cNvPr id="2" name="슬라이드 번호 개체 틀 4">
            <a:extLst>
              <a:ext uri="{FF2B5EF4-FFF2-40B4-BE49-F238E27FC236}">
                <a16:creationId xmlns:a16="http://schemas.microsoft.com/office/drawing/2014/main" id="{3514F684-FA05-26AF-7EC6-8E4B0BE5E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167768A3-AC29-4B30-B97D-8EE275BA7DF4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8DF0306C-34BE-E651-B3D2-2D3C07E735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45" y="864973"/>
            <a:ext cx="12103510" cy="5927713"/>
          </a:xfrm>
        </p:spPr>
        <p:txBody>
          <a:bodyPr vert="horz" lIns="91440" tIns="45720" rIns="91440" bIns="45720" rtlCol="0" anchor="t">
            <a:noAutofit/>
          </a:bodyPr>
          <a:lstStyle/>
          <a:p>
            <a:endParaRPr lang="ko-KR" altLang="en-US" sz="1600" dirty="0">
              <a:solidFill>
                <a:schemeClr val="tx1"/>
              </a:solidFill>
            </a:endParaRPr>
          </a:p>
          <a:p>
            <a:endParaRPr lang="ko-KR" altLang="en-US" sz="16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ko-KR" sz="1600" dirty="0">
              <a:solidFill>
                <a:schemeClr val="tx1"/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AE03B75-DDA3-86BF-9094-53797354D5D6}"/>
              </a:ext>
            </a:extLst>
          </p:cNvPr>
          <p:cNvSpPr txBox="1">
            <a:spLocks/>
          </p:cNvSpPr>
          <p:nvPr/>
        </p:nvSpPr>
        <p:spPr>
          <a:xfrm>
            <a:off x="2014" y="850651"/>
            <a:ext cx="12103510" cy="592771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1600">
              <a:solidFill>
                <a:schemeClr val="tx1"/>
              </a:solidFill>
            </a:endParaRPr>
          </a:p>
          <a:p>
            <a:endParaRPr lang="ko-KR" altLang="en-US" sz="1600">
              <a:solidFill>
                <a:schemeClr val="tx1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ko-KR" sz="1600" dirty="0">
              <a:solidFill>
                <a:schemeClr val="tx1"/>
              </a:solidFill>
            </a:endParaRP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834CE5B2-010E-FBF0-4636-504E5AD95254}"/>
              </a:ext>
            </a:extLst>
          </p:cNvPr>
          <p:cNvSpPr txBox="1">
            <a:spLocks/>
          </p:cNvSpPr>
          <p:nvPr/>
        </p:nvSpPr>
        <p:spPr>
          <a:xfrm>
            <a:off x="86476" y="865891"/>
            <a:ext cx="12103510" cy="592771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/>
            <a:r>
              <a:rPr lang="ko-KR" altLang="ko-KR" sz="1800" dirty="0"/>
              <a:t>강화학습을 이용해 </a:t>
            </a:r>
            <a:r>
              <a:rPr lang="ko-KR" altLang="ko-KR" sz="1800" dirty="0" err="1"/>
              <a:t>스도쿠</a:t>
            </a:r>
            <a:r>
              <a:rPr lang="ko-KR" altLang="ko-KR" sz="1800" dirty="0"/>
              <a:t> 퍼즐을 해결하는 에이전트를 설계</a:t>
            </a:r>
            <a:r>
              <a:rPr lang="en-US" altLang="ko-KR" sz="1800" dirty="0"/>
              <a:t>·</a:t>
            </a:r>
            <a:r>
              <a:rPr lang="ko-KR" altLang="ko-KR" sz="1800" dirty="0"/>
              <a:t>학</a:t>
            </a:r>
            <a:r>
              <a:rPr lang="ko-KR" altLang="en-US" sz="1800" dirty="0"/>
              <a:t>습</a:t>
            </a:r>
            <a:endParaRPr lang="en-US" altLang="ko-KR" sz="1800" dirty="0"/>
          </a:p>
          <a:p>
            <a:pPr marL="285750" indent="-285750"/>
            <a:r>
              <a:rPr lang="en-US" altLang="ko-KR" sz="1800" dirty="0"/>
              <a:t>MLP</a:t>
            </a:r>
            <a:r>
              <a:rPr lang="ko-KR" altLang="ko-KR" sz="1800" dirty="0"/>
              <a:t>가 아닌 </a:t>
            </a:r>
            <a:r>
              <a:rPr lang="en-US" altLang="ko-KR" sz="1800" dirty="0"/>
              <a:t>Graph Neural Network</a:t>
            </a:r>
            <a:r>
              <a:rPr lang="ko-KR" altLang="ko-KR" sz="1800" dirty="0"/>
              <a:t>기반 정책을 설계하고</a:t>
            </a:r>
            <a:r>
              <a:rPr lang="en-US" altLang="ko-KR" sz="1800" dirty="0"/>
              <a:t>, </a:t>
            </a:r>
            <a:r>
              <a:rPr lang="ko-KR" altLang="ko-KR" sz="1800" dirty="0"/>
              <a:t>정책 학습에는 </a:t>
            </a:r>
            <a:r>
              <a:rPr lang="en-US" altLang="ko-KR" sz="1800" dirty="0"/>
              <a:t>PPO </a:t>
            </a:r>
            <a:r>
              <a:rPr lang="ko-KR" altLang="ko-KR" sz="1800" dirty="0"/>
              <a:t>알고리즘을 사용</a:t>
            </a:r>
            <a:endParaRPr lang="en-US" altLang="ko-KR" sz="1800" dirty="0"/>
          </a:p>
          <a:p>
            <a:pPr marL="285750" indent="-285750"/>
            <a:r>
              <a:rPr lang="ko-KR" altLang="ko-KR" sz="1800" dirty="0" err="1"/>
              <a:t>스도쿠의</a:t>
            </a:r>
            <a:r>
              <a:rPr lang="ko-KR" altLang="ko-KR" sz="1800" dirty="0"/>
              <a:t> 경우 </a:t>
            </a:r>
            <a:r>
              <a:rPr lang="ko-KR" altLang="ko-KR" sz="1800" dirty="0" err="1"/>
              <a:t>백트랙킹</a:t>
            </a:r>
            <a:r>
              <a:rPr lang="ko-KR" altLang="ko-KR" sz="1800" dirty="0"/>
              <a:t> 방식으로 정확하게 푸는 알고리즘이 존재하지만 강화학습만을 사용해 문제를 해결하고자 </a:t>
            </a:r>
            <a:r>
              <a:rPr lang="ko-KR" altLang="en-US" sz="1800" dirty="0"/>
              <a:t>함</a:t>
            </a:r>
            <a:r>
              <a:rPr lang="en-US" altLang="ko-KR" sz="1800" dirty="0"/>
              <a:t>.</a:t>
            </a:r>
            <a:br>
              <a:rPr lang="en-US" altLang="ko-KR" dirty="0"/>
            </a:br>
            <a:endParaRPr lang="en-US" altLang="ko-KR" sz="1600" dirty="0">
              <a:solidFill>
                <a:schemeClr val="tx1"/>
              </a:solidFill>
            </a:endParaRPr>
          </a:p>
        </p:txBody>
      </p:sp>
      <p:pic>
        <p:nvPicPr>
          <p:cNvPr id="14" name="그림 13" descr="텍스트, 번호, 사각형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952F6D0-EE9E-F345-9BFE-1EC039E3B6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423"/>
          <a:stretch>
            <a:fillRect/>
          </a:stretch>
        </p:blipFill>
        <p:spPr>
          <a:xfrm>
            <a:off x="4733633" y="3269452"/>
            <a:ext cx="2640272" cy="2576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63658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178824-F682-1F38-7DF4-57A9608C8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>
            <a:extLst>
              <a:ext uri="{FF2B5EF4-FFF2-40B4-BE49-F238E27FC236}">
                <a16:creationId xmlns:a16="http://schemas.microsoft.com/office/drawing/2014/main" id="{07192DB6-F416-AD0C-2248-B90797A279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55695"/>
          </a:xfrm>
        </p:spPr>
        <p:txBody>
          <a:bodyPr>
            <a:normAutofit/>
          </a:bodyPr>
          <a:lstStyle/>
          <a:p>
            <a:r>
              <a:rPr lang="en-US" altLang="ko-KR" b="1" dirty="0"/>
              <a:t>2. </a:t>
            </a:r>
            <a:r>
              <a:rPr lang="ko-KR" altLang="ko-KR" b="1" dirty="0"/>
              <a:t>환경 및 문제 설계 </a:t>
            </a:r>
            <a:endParaRPr lang="ko-KR" altLang="ko-KR" dirty="0"/>
          </a:p>
        </p:txBody>
      </p:sp>
      <p:sp>
        <p:nvSpPr>
          <p:cNvPr id="2" name="슬라이드 번호 개체 틀 4">
            <a:extLst>
              <a:ext uri="{FF2B5EF4-FFF2-40B4-BE49-F238E27FC236}">
                <a16:creationId xmlns:a16="http://schemas.microsoft.com/office/drawing/2014/main" id="{336EDC61-DB40-4978-C224-6F81B2CEB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167768A3-AC29-4B30-B97D-8EE275BA7DF4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3287ABB2-3196-8FC3-D7DA-4A325CD10F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45" y="864973"/>
            <a:ext cx="12103510" cy="5927713"/>
          </a:xfrm>
        </p:spPr>
        <p:txBody>
          <a:bodyPr vert="horz" lIns="91440" tIns="45720" rIns="91440" bIns="45720" rtlCol="0" anchor="t">
            <a:noAutofit/>
          </a:bodyPr>
          <a:lstStyle/>
          <a:p>
            <a:endParaRPr lang="ko-KR" altLang="en-US" sz="1600" dirty="0">
              <a:solidFill>
                <a:schemeClr val="tx1"/>
              </a:solidFill>
            </a:endParaRPr>
          </a:p>
          <a:p>
            <a:endParaRPr lang="ko-KR" altLang="en-US" sz="16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ko-KR" sz="1600" dirty="0">
              <a:solidFill>
                <a:schemeClr val="tx1"/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E976EEC-1C97-DB81-B597-CE22E0E7EB6E}"/>
              </a:ext>
            </a:extLst>
          </p:cNvPr>
          <p:cNvSpPr txBox="1">
            <a:spLocks/>
          </p:cNvSpPr>
          <p:nvPr/>
        </p:nvSpPr>
        <p:spPr>
          <a:xfrm>
            <a:off x="2014" y="850651"/>
            <a:ext cx="12103510" cy="592771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1600">
              <a:solidFill>
                <a:schemeClr val="tx1"/>
              </a:solidFill>
            </a:endParaRPr>
          </a:p>
          <a:p>
            <a:endParaRPr lang="ko-KR" altLang="en-US" sz="1600">
              <a:solidFill>
                <a:schemeClr val="tx1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ko-KR" sz="1600" dirty="0">
              <a:solidFill>
                <a:schemeClr val="tx1"/>
              </a:solidFill>
            </a:endParaRP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13E76707-B217-7EAB-8A69-346580E888E7}"/>
              </a:ext>
            </a:extLst>
          </p:cNvPr>
          <p:cNvSpPr txBox="1">
            <a:spLocks/>
          </p:cNvSpPr>
          <p:nvPr/>
        </p:nvSpPr>
        <p:spPr>
          <a:xfrm>
            <a:off x="86476" y="865891"/>
            <a:ext cx="12103510" cy="592771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2000" dirty="0" err="1"/>
              <a:t>스도쿠는</a:t>
            </a:r>
            <a:r>
              <a:rPr lang="ko-KR" altLang="en-US" sz="2000" dirty="0"/>
              <a:t> 제약 만족 문제</a:t>
            </a:r>
            <a:r>
              <a:rPr lang="en-US" altLang="ko-KR" sz="2000" dirty="0"/>
              <a:t>(CSP)</a:t>
            </a:r>
          </a:p>
          <a:p>
            <a:r>
              <a:rPr lang="ko-KR" altLang="en-US" sz="2000" dirty="0"/>
              <a:t>행</a:t>
            </a:r>
            <a:r>
              <a:rPr lang="en-US" altLang="ko-KR" sz="2000" dirty="0"/>
              <a:t>·</a:t>
            </a:r>
            <a:r>
              <a:rPr lang="ko-KR" altLang="en-US" sz="2000" dirty="0"/>
              <a:t>열</a:t>
            </a:r>
            <a:r>
              <a:rPr lang="en-US" altLang="ko-KR" sz="2000" dirty="0"/>
              <a:t>·</a:t>
            </a:r>
            <a:r>
              <a:rPr lang="ko-KR" altLang="en-US" sz="2000" dirty="0"/>
              <a:t>블록 관계를 반영하기 위해 그래프 구조로 상태 표현</a:t>
            </a:r>
          </a:p>
          <a:p>
            <a:r>
              <a:rPr lang="ko-KR" altLang="en-US" sz="2000" dirty="0"/>
              <a:t>각 셀 </a:t>
            </a:r>
            <a:r>
              <a:rPr lang="en-US" altLang="ko-KR" sz="2000" dirty="0"/>
              <a:t>+ row meta + col meta + block meta </a:t>
            </a:r>
            <a:r>
              <a:rPr lang="ko-KR" altLang="en-US" sz="2000" dirty="0"/>
              <a:t>노드 구성</a:t>
            </a:r>
          </a:p>
          <a:p>
            <a:r>
              <a:rPr lang="ko-KR" altLang="en-US" sz="2000" dirty="0"/>
              <a:t>각 노드는 숫자 </a:t>
            </a:r>
            <a:r>
              <a:rPr lang="en-US" altLang="ko-KR" sz="2000" dirty="0"/>
              <a:t>one-hot / </a:t>
            </a:r>
            <a:r>
              <a:rPr lang="ko-KR" altLang="en-US" sz="2000" dirty="0"/>
              <a:t>위치정보 </a:t>
            </a:r>
            <a:r>
              <a:rPr lang="en-US" altLang="ko-KR" sz="2000" dirty="0"/>
              <a:t>/ given </a:t>
            </a:r>
            <a:r>
              <a:rPr lang="ko-KR" altLang="en-US" sz="2000" dirty="0"/>
              <a:t>여부 포함</a:t>
            </a:r>
          </a:p>
          <a:p>
            <a:r>
              <a:rPr lang="ko-KR" altLang="en-US" sz="2000" dirty="0"/>
              <a:t>구조적 제약을 메시지 </a:t>
            </a:r>
            <a:r>
              <a:rPr lang="ko-KR" altLang="en-US" sz="2000" dirty="0" err="1"/>
              <a:t>패싱</a:t>
            </a:r>
            <a:r>
              <a:rPr lang="en-US" altLang="ko-KR" sz="2000" dirty="0"/>
              <a:t>(GNN) </a:t>
            </a:r>
            <a:r>
              <a:rPr lang="ko-KR" altLang="en-US" sz="2000" dirty="0"/>
              <a:t>으로 자연스럽게 학습</a:t>
            </a:r>
          </a:p>
          <a:p>
            <a:pPr marL="0" indent="0">
              <a:buNone/>
            </a:pPr>
            <a:br>
              <a:rPr lang="en-US" altLang="ko-KR" dirty="0"/>
            </a:br>
            <a:endParaRPr lang="en-US" altLang="ko-KR" sz="1600" dirty="0">
              <a:solidFill>
                <a:schemeClr val="tx1"/>
              </a:solidFill>
            </a:endParaRPr>
          </a:p>
        </p:txBody>
      </p:sp>
      <p:pic>
        <p:nvPicPr>
          <p:cNvPr id="14" name="그림 13" descr="텍스트, 번호, 사각형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68492DF-080F-656D-0425-1DC91AFAE2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423"/>
          <a:stretch>
            <a:fillRect/>
          </a:stretch>
        </p:blipFill>
        <p:spPr>
          <a:xfrm>
            <a:off x="4733633" y="3780174"/>
            <a:ext cx="2640272" cy="2576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82479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0211F3-F098-12E6-B2E7-008D099923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>
            <a:extLst>
              <a:ext uri="{FF2B5EF4-FFF2-40B4-BE49-F238E27FC236}">
                <a16:creationId xmlns:a16="http://schemas.microsoft.com/office/drawing/2014/main" id="{99902CFE-6284-E451-FC18-D0A36C20D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55695"/>
          </a:xfrm>
        </p:spPr>
        <p:txBody>
          <a:bodyPr>
            <a:normAutofit/>
          </a:bodyPr>
          <a:lstStyle/>
          <a:p>
            <a:r>
              <a:rPr lang="en-US" altLang="ko-KR" b="1" dirty="0"/>
              <a:t>2. </a:t>
            </a:r>
            <a:r>
              <a:rPr lang="ko-KR" altLang="ko-KR" b="1" dirty="0"/>
              <a:t>환경 및 문제 설계 </a:t>
            </a:r>
            <a:endParaRPr lang="ko-KR" altLang="ko-KR" dirty="0"/>
          </a:p>
        </p:txBody>
      </p:sp>
      <p:sp>
        <p:nvSpPr>
          <p:cNvPr id="2" name="슬라이드 번호 개체 틀 4">
            <a:extLst>
              <a:ext uri="{FF2B5EF4-FFF2-40B4-BE49-F238E27FC236}">
                <a16:creationId xmlns:a16="http://schemas.microsoft.com/office/drawing/2014/main" id="{B7D09090-BFF2-7488-78CD-103912CB4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167768A3-AC29-4B30-B97D-8EE275BA7DF4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1AB71D57-DD06-69C6-B15E-627A99228D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45" y="864973"/>
            <a:ext cx="12103510" cy="5927713"/>
          </a:xfrm>
        </p:spPr>
        <p:txBody>
          <a:bodyPr vert="horz" lIns="91440" tIns="45720" rIns="91440" bIns="45720" rtlCol="0" anchor="t">
            <a:noAutofit/>
          </a:bodyPr>
          <a:lstStyle/>
          <a:p>
            <a:endParaRPr lang="ko-KR" altLang="en-US" sz="1600" dirty="0">
              <a:solidFill>
                <a:schemeClr val="tx1"/>
              </a:solidFill>
            </a:endParaRPr>
          </a:p>
          <a:p>
            <a:endParaRPr lang="ko-KR" altLang="en-US" sz="16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ko-KR" sz="1600" dirty="0">
              <a:solidFill>
                <a:schemeClr val="tx1"/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C80398B-53F5-99E7-F8F9-5632559D1692}"/>
              </a:ext>
            </a:extLst>
          </p:cNvPr>
          <p:cNvSpPr txBox="1">
            <a:spLocks/>
          </p:cNvSpPr>
          <p:nvPr/>
        </p:nvSpPr>
        <p:spPr>
          <a:xfrm>
            <a:off x="2014" y="850651"/>
            <a:ext cx="12103510" cy="592771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1600">
              <a:solidFill>
                <a:schemeClr val="tx1"/>
              </a:solidFill>
            </a:endParaRPr>
          </a:p>
          <a:p>
            <a:endParaRPr lang="ko-KR" altLang="en-US" sz="1600">
              <a:solidFill>
                <a:schemeClr val="tx1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ko-KR" sz="1600" dirty="0">
              <a:solidFill>
                <a:schemeClr val="tx1"/>
              </a:solidFill>
            </a:endParaRP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498E52EB-A451-B1C9-E9BC-30634C4178D7}"/>
              </a:ext>
            </a:extLst>
          </p:cNvPr>
          <p:cNvSpPr txBox="1">
            <a:spLocks/>
          </p:cNvSpPr>
          <p:nvPr/>
        </p:nvSpPr>
        <p:spPr>
          <a:xfrm>
            <a:off x="86476" y="865891"/>
            <a:ext cx="12103510" cy="592771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b="1" dirty="0"/>
              <a:t>2.1 </a:t>
            </a:r>
            <a:r>
              <a:rPr lang="ko-KR" altLang="ko-KR" b="1" dirty="0"/>
              <a:t>퍼즐 생성 </a:t>
            </a:r>
            <a:endParaRPr lang="ko-KR" altLang="ko-KR" dirty="0"/>
          </a:p>
          <a:p>
            <a:pPr marL="0" indent="0">
              <a:buNone/>
            </a:pPr>
            <a:r>
              <a:rPr lang="en-US" altLang="ko-KR" sz="1800" dirty="0"/>
              <a:t>Base solution</a:t>
            </a:r>
            <a:r>
              <a:rPr lang="ko-KR" altLang="en-US" sz="1800" dirty="0"/>
              <a:t>을 행</a:t>
            </a:r>
            <a:r>
              <a:rPr lang="en-US" altLang="ko-KR" sz="1800" dirty="0"/>
              <a:t>·</a:t>
            </a:r>
            <a:r>
              <a:rPr lang="ko-KR" altLang="en-US" sz="1800" dirty="0"/>
              <a:t>열</a:t>
            </a:r>
            <a:r>
              <a:rPr lang="en-US" altLang="ko-KR" sz="1800" dirty="0"/>
              <a:t>·</a:t>
            </a:r>
            <a:r>
              <a:rPr lang="ko-KR" altLang="en-US" sz="1800" dirty="0"/>
              <a:t>블록 단위 </a:t>
            </a:r>
            <a:r>
              <a:rPr lang="en-US" altLang="ko-KR" sz="1800" dirty="0"/>
              <a:t>permutation → </a:t>
            </a:r>
            <a:r>
              <a:rPr lang="ko-KR" altLang="en-US" sz="1800" dirty="0"/>
              <a:t>다양한 정답 생성</a:t>
            </a:r>
          </a:p>
          <a:p>
            <a:pPr marL="0" indent="0">
              <a:buNone/>
            </a:pPr>
            <a:r>
              <a:rPr lang="ko-KR" altLang="en-US" sz="1800" dirty="0"/>
              <a:t>일정 개수의 셀만 남겨 퍼즐 생성</a:t>
            </a:r>
          </a:p>
          <a:p>
            <a:pPr marL="0" indent="0">
              <a:buNone/>
            </a:pPr>
            <a:r>
              <a:rPr lang="en-US" altLang="ko-KR" sz="1800" dirty="0"/>
              <a:t>4×4: </a:t>
            </a:r>
            <a:r>
              <a:rPr lang="ko-KR" altLang="en-US" sz="1800" dirty="0"/>
              <a:t>힌트 </a:t>
            </a:r>
            <a:r>
              <a:rPr lang="en-US" altLang="ko-KR" sz="1800" dirty="0"/>
              <a:t>8</a:t>
            </a:r>
            <a:r>
              <a:rPr lang="ko-KR" altLang="en-US" sz="1800" dirty="0"/>
              <a:t>개</a:t>
            </a:r>
          </a:p>
          <a:p>
            <a:pPr marL="0" indent="0">
              <a:buNone/>
            </a:pPr>
            <a:r>
              <a:rPr lang="en-US" altLang="ko-KR" sz="1800" dirty="0"/>
              <a:t>9×9: </a:t>
            </a:r>
            <a:r>
              <a:rPr lang="ko-KR" altLang="en-US" sz="1800" dirty="0"/>
              <a:t>힌트 </a:t>
            </a:r>
            <a:r>
              <a:rPr lang="en-US" altLang="ko-KR" sz="1800" dirty="0"/>
              <a:t>60</a:t>
            </a:r>
            <a:r>
              <a:rPr lang="ko-KR" altLang="en-US" sz="1800" dirty="0"/>
              <a:t>개</a:t>
            </a:r>
          </a:p>
          <a:p>
            <a:pPr marL="0" indent="0">
              <a:buNone/>
            </a:pPr>
            <a:endParaRPr lang="en-US" altLang="ko-KR" sz="1800" dirty="0"/>
          </a:p>
          <a:p>
            <a:pPr marL="0" indent="0">
              <a:buNone/>
            </a:pPr>
            <a:r>
              <a:rPr lang="ko-KR" altLang="en-US" sz="1800" dirty="0"/>
              <a:t>옵션</a:t>
            </a:r>
          </a:p>
          <a:p>
            <a:pPr marL="0" indent="0">
              <a:buNone/>
            </a:pPr>
            <a:r>
              <a:rPr lang="en-US" altLang="ko-KR" sz="1800" dirty="0" err="1"/>
              <a:t>single_base</a:t>
            </a:r>
            <a:r>
              <a:rPr lang="en-US" altLang="ko-KR" sz="1800" dirty="0"/>
              <a:t>: </a:t>
            </a:r>
            <a:r>
              <a:rPr lang="ko-KR" altLang="en-US" sz="1800" dirty="0"/>
              <a:t>정답을 하나로 고정</a:t>
            </a:r>
          </a:p>
          <a:p>
            <a:pPr marL="0" indent="0">
              <a:buNone/>
            </a:pPr>
            <a:r>
              <a:rPr lang="en-US" altLang="ko-KR" sz="1800" dirty="0" err="1"/>
              <a:t>single_puzzle</a:t>
            </a:r>
            <a:r>
              <a:rPr lang="en-US" altLang="ko-KR" sz="1800" dirty="0"/>
              <a:t>: </a:t>
            </a:r>
            <a:r>
              <a:rPr lang="ko-KR" altLang="en-US" sz="1800" dirty="0"/>
              <a:t>힌트 위치</a:t>
            </a:r>
            <a:r>
              <a:rPr lang="en-US" altLang="ko-KR" sz="1800" dirty="0"/>
              <a:t>(</a:t>
            </a:r>
            <a:r>
              <a:rPr lang="ko-KR" altLang="en-US" sz="1800" dirty="0"/>
              <a:t>퍼즐 구조</a:t>
            </a:r>
            <a:r>
              <a:rPr lang="en-US" altLang="ko-KR" sz="1800" dirty="0"/>
              <a:t>)</a:t>
            </a:r>
            <a:r>
              <a:rPr lang="ko-KR" altLang="en-US" sz="1800" dirty="0"/>
              <a:t>까지 고정</a:t>
            </a:r>
          </a:p>
          <a:p>
            <a:pPr marL="0" indent="0">
              <a:buNone/>
            </a:pPr>
            <a:r>
              <a:rPr lang="ko-KR" altLang="en-US" sz="1800" dirty="0"/>
              <a:t>→ 문제 다양성 </a:t>
            </a:r>
            <a:r>
              <a:rPr lang="en-US" altLang="ko-KR" sz="1800" dirty="0"/>
              <a:t>vs. </a:t>
            </a:r>
            <a:r>
              <a:rPr lang="ko-KR" altLang="en-US" sz="1800" dirty="0"/>
              <a:t>단일 퍼즐 암기 구조 선택 가능</a:t>
            </a:r>
          </a:p>
          <a:p>
            <a:pPr marL="0" indent="0">
              <a:buNone/>
            </a:pPr>
            <a:br>
              <a:rPr lang="en-US" altLang="ko-KR" dirty="0"/>
            </a:br>
            <a:endParaRPr lang="en-US" altLang="ko-KR" sz="1600" dirty="0">
              <a:solidFill>
                <a:schemeClr val="tx1"/>
              </a:solidFill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6373F907-CB6D-FD34-B9EE-F65313994D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4453" y="1820668"/>
            <a:ext cx="1576037" cy="1659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52623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C97A1-91DF-37CC-C54B-1CD44888B7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>
            <a:extLst>
              <a:ext uri="{FF2B5EF4-FFF2-40B4-BE49-F238E27FC236}">
                <a16:creationId xmlns:a16="http://schemas.microsoft.com/office/drawing/2014/main" id="{11FFC201-3BF1-72C3-E112-333E607C8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55695"/>
          </a:xfrm>
        </p:spPr>
        <p:txBody>
          <a:bodyPr>
            <a:normAutofit/>
          </a:bodyPr>
          <a:lstStyle/>
          <a:p>
            <a:r>
              <a:rPr lang="en-US" altLang="ko-KR" b="1" dirty="0"/>
              <a:t>2. </a:t>
            </a:r>
            <a:r>
              <a:rPr lang="ko-KR" altLang="ko-KR" b="1" dirty="0"/>
              <a:t>환경 및 문제 설계 </a:t>
            </a:r>
            <a:endParaRPr lang="en-US" altLang="ko-KR" b="1" dirty="0"/>
          </a:p>
        </p:txBody>
      </p:sp>
      <p:sp>
        <p:nvSpPr>
          <p:cNvPr id="2" name="슬라이드 번호 개체 틀 4">
            <a:extLst>
              <a:ext uri="{FF2B5EF4-FFF2-40B4-BE49-F238E27FC236}">
                <a16:creationId xmlns:a16="http://schemas.microsoft.com/office/drawing/2014/main" id="{D38E0AAC-0433-E9D2-D7F0-AB5281387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167768A3-AC29-4B30-B97D-8EE275BA7DF4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727673AE-7B56-B1A4-13A4-92CFCC498F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45" y="864973"/>
            <a:ext cx="12103510" cy="5927713"/>
          </a:xfrm>
        </p:spPr>
        <p:txBody>
          <a:bodyPr vert="horz" lIns="91440" tIns="45720" rIns="91440" bIns="45720" rtlCol="0" anchor="t">
            <a:noAutofit/>
          </a:bodyPr>
          <a:lstStyle/>
          <a:p>
            <a:endParaRPr lang="ko-KR" altLang="en-US" sz="1600" dirty="0">
              <a:solidFill>
                <a:schemeClr val="tx1"/>
              </a:solidFill>
            </a:endParaRPr>
          </a:p>
          <a:p>
            <a:endParaRPr lang="ko-KR" altLang="en-US" sz="16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ko-KR" sz="1600" dirty="0">
              <a:solidFill>
                <a:schemeClr val="tx1"/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EBBB365-7B99-6458-E661-84BC57B5E6A5}"/>
              </a:ext>
            </a:extLst>
          </p:cNvPr>
          <p:cNvSpPr txBox="1">
            <a:spLocks/>
          </p:cNvSpPr>
          <p:nvPr/>
        </p:nvSpPr>
        <p:spPr>
          <a:xfrm>
            <a:off x="2014" y="850651"/>
            <a:ext cx="12103510" cy="592771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1600">
              <a:solidFill>
                <a:schemeClr val="tx1"/>
              </a:solidFill>
            </a:endParaRPr>
          </a:p>
          <a:p>
            <a:endParaRPr lang="ko-KR" altLang="en-US" sz="1600">
              <a:solidFill>
                <a:schemeClr val="tx1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ko-KR" sz="1600" dirty="0">
              <a:solidFill>
                <a:schemeClr val="tx1"/>
              </a:solidFill>
            </a:endParaRP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4513BF6E-4DD7-94E8-3031-0B7DFF50056D}"/>
              </a:ext>
            </a:extLst>
          </p:cNvPr>
          <p:cNvSpPr txBox="1">
            <a:spLocks/>
          </p:cNvSpPr>
          <p:nvPr/>
        </p:nvSpPr>
        <p:spPr>
          <a:xfrm>
            <a:off x="86476" y="865891"/>
            <a:ext cx="12103510" cy="592771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800" b="1" dirty="0"/>
              <a:t>2.2 </a:t>
            </a:r>
            <a:r>
              <a:rPr lang="ko-KR" altLang="ko-KR" sz="1800" b="1" dirty="0"/>
              <a:t>상태 표현</a:t>
            </a:r>
            <a:r>
              <a:rPr lang="en-US" altLang="ko-KR" sz="1800" b="1" dirty="0"/>
              <a:t> (State Representation) = </a:t>
            </a:r>
            <a:r>
              <a:rPr lang="ko-KR" altLang="ko-KR" sz="1800" b="1" dirty="0"/>
              <a:t>그래프 변환</a:t>
            </a:r>
            <a:endParaRPr lang="ko-KR" altLang="ko-KR" sz="1800" dirty="0"/>
          </a:p>
          <a:p>
            <a:pPr marL="0" indent="0">
              <a:buNone/>
            </a:pPr>
            <a:r>
              <a:rPr lang="ko-KR" altLang="ko-KR" sz="1800" dirty="0" err="1"/>
              <a:t>스도쿠는</a:t>
            </a:r>
            <a:r>
              <a:rPr lang="ko-KR" altLang="ko-KR" sz="1800" dirty="0"/>
              <a:t> 본질적으로 </a:t>
            </a:r>
            <a:r>
              <a:rPr lang="ko-KR" altLang="ko-KR" sz="1800" b="1" dirty="0"/>
              <a:t>셀들 사이의 관계가 중요한 구조적 문제</a:t>
            </a:r>
            <a:r>
              <a:rPr lang="ko-KR" altLang="ko-KR" sz="1800" dirty="0"/>
              <a:t>이다</a:t>
            </a:r>
            <a:r>
              <a:rPr lang="en-US" altLang="ko-KR" sz="1800" dirty="0"/>
              <a:t>.</a:t>
            </a:r>
            <a:br>
              <a:rPr lang="en-US" altLang="ko-KR" sz="1800" dirty="0"/>
            </a:br>
            <a:r>
              <a:rPr lang="ko-KR" altLang="ko-KR" sz="1800" dirty="0"/>
              <a:t>전통적인</a:t>
            </a:r>
            <a:r>
              <a:rPr lang="en-US" altLang="ko-KR" sz="1800" dirty="0"/>
              <a:t> CNN</a:t>
            </a:r>
            <a:r>
              <a:rPr lang="ko-KR" altLang="ko-KR" sz="1800" dirty="0"/>
              <a:t>이나</a:t>
            </a:r>
            <a:r>
              <a:rPr lang="en-US" altLang="ko-KR" sz="1800" dirty="0"/>
              <a:t> MLP </a:t>
            </a:r>
            <a:r>
              <a:rPr lang="ko-KR" altLang="ko-KR" sz="1800" dirty="0"/>
              <a:t>기반 정책은 이러한 관계 구조를 내재적으로 반영하는 데 한계가 있어</a:t>
            </a:r>
            <a:r>
              <a:rPr lang="en-US" altLang="ko-KR" sz="1800" dirty="0"/>
              <a:t>, </a:t>
            </a:r>
            <a:r>
              <a:rPr lang="ko-KR" altLang="ko-KR" sz="1800" dirty="0"/>
              <a:t>본 프로젝트에서는 </a:t>
            </a:r>
            <a:r>
              <a:rPr lang="en-US" altLang="ko-KR" sz="1800" b="1" dirty="0"/>
              <a:t>GNN </a:t>
            </a:r>
            <a:r>
              <a:rPr lang="ko-KR" altLang="ko-KR" sz="1800" dirty="0"/>
              <a:t>을 사용하기 위해 다음과 같이 퍼즐 상태를 그래프로 변환하였다</a:t>
            </a:r>
            <a:r>
              <a:rPr lang="en-US" altLang="ko-KR" sz="1800" dirty="0"/>
              <a:t>.</a:t>
            </a:r>
            <a:endParaRPr lang="ko-KR" altLang="ko-KR" dirty="0"/>
          </a:p>
          <a:p>
            <a:pPr marL="0" indent="0">
              <a:buNone/>
            </a:pPr>
            <a:br>
              <a:rPr lang="en-US" altLang="ko-KR" dirty="0"/>
            </a:br>
            <a:endParaRPr lang="en-US" altLang="ko-KR" sz="1600" dirty="0">
              <a:solidFill>
                <a:schemeClr val="tx1"/>
              </a:solidFill>
            </a:endParaRPr>
          </a:p>
        </p:txBody>
      </p:sp>
      <p:pic>
        <p:nvPicPr>
          <p:cNvPr id="30" name="그림 29" descr="원, 라인, 도표, 스케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5C678BA-8A76-1FA8-FE79-B9F0BCF94F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2477" y="3095273"/>
            <a:ext cx="3426084" cy="2944733"/>
          </a:xfrm>
          <a:prstGeom prst="rect">
            <a:avLst/>
          </a:prstGeom>
        </p:spPr>
      </p:pic>
      <p:pic>
        <p:nvPicPr>
          <p:cNvPr id="8" name="그림 7" descr="도표, 라인, 원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9A573C1-5E1F-02DC-3473-86823DD3333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6640" y="2987971"/>
            <a:ext cx="3240000" cy="32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18702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2F071C-2301-CAB4-5C36-8407187502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>
            <a:extLst>
              <a:ext uri="{FF2B5EF4-FFF2-40B4-BE49-F238E27FC236}">
                <a16:creationId xmlns:a16="http://schemas.microsoft.com/office/drawing/2014/main" id="{2B766B5E-ABF7-7E28-93C8-0D3F68797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55695"/>
          </a:xfrm>
        </p:spPr>
        <p:txBody>
          <a:bodyPr>
            <a:normAutofit/>
          </a:bodyPr>
          <a:lstStyle/>
          <a:p>
            <a:r>
              <a:rPr lang="en-US" altLang="ko-KR" b="1" dirty="0"/>
              <a:t>2. </a:t>
            </a:r>
            <a:r>
              <a:rPr lang="ko-KR" altLang="ko-KR" b="1" dirty="0"/>
              <a:t>환경 및 문제 설계 </a:t>
            </a:r>
            <a:endParaRPr lang="en-US" altLang="ko-KR" b="1" dirty="0"/>
          </a:p>
        </p:txBody>
      </p:sp>
      <p:sp>
        <p:nvSpPr>
          <p:cNvPr id="2" name="슬라이드 번호 개체 틀 4">
            <a:extLst>
              <a:ext uri="{FF2B5EF4-FFF2-40B4-BE49-F238E27FC236}">
                <a16:creationId xmlns:a16="http://schemas.microsoft.com/office/drawing/2014/main" id="{5090CE53-C246-4380-8277-CD468F6BC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167768A3-AC29-4B30-B97D-8EE275BA7DF4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000806E7-0BF6-2321-07C1-4AE2656D65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45" y="864973"/>
            <a:ext cx="12103510" cy="5927713"/>
          </a:xfrm>
        </p:spPr>
        <p:txBody>
          <a:bodyPr vert="horz" lIns="91440" tIns="45720" rIns="91440" bIns="45720" rtlCol="0" anchor="t">
            <a:noAutofit/>
          </a:bodyPr>
          <a:lstStyle/>
          <a:p>
            <a:endParaRPr lang="ko-KR" altLang="en-US" sz="1600" dirty="0">
              <a:solidFill>
                <a:schemeClr val="tx1"/>
              </a:solidFill>
            </a:endParaRPr>
          </a:p>
          <a:p>
            <a:endParaRPr lang="ko-KR" altLang="en-US" sz="16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ko-KR" sz="1600" dirty="0">
              <a:solidFill>
                <a:schemeClr val="tx1"/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330A9F5-F374-3C65-46B3-1BFB13A18C62}"/>
              </a:ext>
            </a:extLst>
          </p:cNvPr>
          <p:cNvSpPr txBox="1">
            <a:spLocks/>
          </p:cNvSpPr>
          <p:nvPr/>
        </p:nvSpPr>
        <p:spPr>
          <a:xfrm>
            <a:off x="2014" y="850651"/>
            <a:ext cx="12103510" cy="592771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1600">
              <a:solidFill>
                <a:schemeClr val="tx1"/>
              </a:solidFill>
            </a:endParaRPr>
          </a:p>
          <a:p>
            <a:endParaRPr lang="ko-KR" altLang="en-US" sz="1600">
              <a:solidFill>
                <a:schemeClr val="tx1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ko-KR" sz="1600" dirty="0">
              <a:solidFill>
                <a:schemeClr val="tx1"/>
              </a:solidFill>
            </a:endParaRP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598CF8E6-7E75-566B-6659-C23B8D9EC221}"/>
              </a:ext>
            </a:extLst>
          </p:cNvPr>
          <p:cNvSpPr txBox="1">
            <a:spLocks/>
          </p:cNvSpPr>
          <p:nvPr/>
        </p:nvSpPr>
        <p:spPr>
          <a:xfrm>
            <a:off x="86476" y="865891"/>
            <a:ext cx="12103510" cy="592771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800" b="1" dirty="0"/>
              <a:t>2.3 </a:t>
            </a:r>
            <a:r>
              <a:rPr lang="ko-KR" altLang="ko-KR" sz="1800" b="1" dirty="0"/>
              <a:t>그래프 구조</a:t>
            </a:r>
            <a:endParaRPr lang="ko-KR" altLang="ko-KR" sz="1800" dirty="0"/>
          </a:p>
          <a:p>
            <a:pPr marL="0" indent="0">
              <a:buNone/>
            </a:pPr>
            <a:r>
              <a:rPr lang="ko-KR" altLang="ko-KR" sz="1800" b="1" dirty="0"/>
              <a:t>셀 노드 </a:t>
            </a:r>
            <a:endParaRPr lang="ko-KR" altLang="ko-KR" sz="1800" dirty="0"/>
          </a:p>
          <a:p>
            <a:pPr marL="0" indent="0">
              <a:buNone/>
            </a:pPr>
            <a:r>
              <a:rPr lang="en-US" altLang="ko-KR" sz="1800" dirty="0"/>
              <a:t>4×4: 16</a:t>
            </a:r>
            <a:r>
              <a:rPr lang="ko-KR" altLang="ko-KR" sz="1800" dirty="0"/>
              <a:t>개</a:t>
            </a:r>
            <a:br>
              <a:rPr lang="en-US" altLang="ko-KR" sz="1800" dirty="0"/>
            </a:br>
            <a:r>
              <a:rPr lang="en-US" altLang="ko-KR" sz="1800" dirty="0"/>
              <a:t>9×9: 81</a:t>
            </a:r>
            <a:r>
              <a:rPr lang="ko-KR" altLang="ko-KR" sz="1800" dirty="0"/>
              <a:t>개</a:t>
            </a:r>
          </a:p>
          <a:p>
            <a:pPr marL="0" indent="0">
              <a:buNone/>
            </a:pPr>
            <a:r>
              <a:rPr lang="ko-KR" altLang="ko-KR" sz="1800" dirty="0"/>
              <a:t>각 셀은 다음 특징</a:t>
            </a:r>
            <a:r>
              <a:rPr lang="en-US" altLang="ko-KR" sz="1800" dirty="0"/>
              <a:t>(feature)</a:t>
            </a:r>
            <a:r>
              <a:rPr lang="ko-KR" altLang="ko-KR" sz="1800" dirty="0"/>
              <a:t>을 갖는다</a:t>
            </a:r>
            <a:endParaRPr lang="en-US" altLang="ko-KR" sz="1800" dirty="0"/>
          </a:p>
          <a:p>
            <a:pPr marL="0" indent="0">
              <a:buNone/>
            </a:pPr>
            <a:r>
              <a:rPr lang="ko-KR" altLang="ko-KR" sz="1800" dirty="0"/>
              <a:t>이 구조는 알고리즘이 </a:t>
            </a:r>
            <a:r>
              <a:rPr lang="ko-KR" altLang="ko-KR" sz="1800" b="1" dirty="0"/>
              <a:t>보드 위치 특성</a:t>
            </a:r>
            <a:r>
              <a:rPr lang="ko-KR" altLang="ko-KR" sz="1800" dirty="0"/>
              <a:t>을 학습하는 데 도움을 준다</a:t>
            </a:r>
            <a:r>
              <a:rPr lang="en-US" altLang="ko-KR" sz="1800" dirty="0"/>
              <a:t>.</a:t>
            </a:r>
            <a:endParaRPr lang="ko-KR" altLang="ko-KR" sz="1800" dirty="0"/>
          </a:p>
          <a:p>
            <a:pPr marL="0" indent="0">
              <a:buNone/>
            </a:pPr>
            <a:endParaRPr lang="ko-KR" altLang="ko-KR" sz="1800" dirty="0"/>
          </a:p>
          <a:p>
            <a:pPr marL="0" indent="0">
              <a:buNone/>
            </a:pPr>
            <a:br>
              <a:rPr lang="en-US" altLang="ko-KR" sz="1800" dirty="0"/>
            </a:br>
            <a:endParaRPr lang="en-US" altLang="ko-KR" sz="1200" dirty="0">
              <a:solidFill>
                <a:schemeClr val="tx1"/>
              </a:solidFill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891E1542-C919-31A0-B889-88DED4C6CB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7225" y="1221509"/>
            <a:ext cx="6267971" cy="2739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91046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AF5D7B-B25D-CDAA-A7FD-73E5B8C083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>
            <a:extLst>
              <a:ext uri="{FF2B5EF4-FFF2-40B4-BE49-F238E27FC236}">
                <a16:creationId xmlns:a16="http://schemas.microsoft.com/office/drawing/2014/main" id="{221B1E71-13E7-9EF8-5FD5-173939E1D3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55695"/>
          </a:xfrm>
        </p:spPr>
        <p:txBody>
          <a:bodyPr>
            <a:normAutofit/>
          </a:bodyPr>
          <a:lstStyle/>
          <a:p>
            <a:r>
              <a:rPr lang="en-US" altLang="ko-KR" b="1" dirty="0"/>
              <a:t>2. </a:t>
            </a:r>
            <a:r>
              <a:rPr lang="ko-KR" altLang="ko-KR" b="1" dirty="0"/>
              <a:t>환경 및 문제 설계 </a:t>
            </a:r>
            <a:endParaRPr lang="en-US" altLang="ko-KR" b="1" dirty="0"/>
          </a:p>
        </p:txBody>
      </p:sp>
      <p:sp>
        <p:nvSpPr>
          <p:cNvPr id="2" name="슬라이드 번호 개체 틀 4">
            <a:extLst>
              <a:ext uri="{FF2B5EF4-FFF2-40B4-BE49-F238E27FC236}">
                <a16:creationId xmlns:a16="http://schemas.microsoft.com/office/drawing/2014/main" id="{DA5C412E-C6B4-827B-29A2-481DF20AA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167768A3-AC29-4B30-B97D-8EE275BA7DF4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5899D818-0961-66B9-0B21-CD4ED836EF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45" y="864973"/>
            <a:ext cx="12103510" cy="5927713"/>
          </a:xfrm>
        </p:spPr>
        <p:txBody>
          <a:bodyPr vert="horz" lIns="91440" tIns="45720" rIns="91440" bIns="45720" rtlCol="0" anchor="t">
            <a:noAutofit/>
          </a:bodyPr>
          <a:lstStyle/>
          <a:p>
            <a:endParaRPr lang="ko-KR" altLang="en-US" sz="1600" dirty="0">
              <a:solidFill>
                <a:schemeClr val="tx1"/>
              </a:solidFill>
            </a:endParaRPr>
          </a:p>
          <a:p>
            <a:endParaRPr lang="ko-KR" altLang="en-US" sz="16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ko-KR" sz="1600" dirty="0">
              <a:solidFill>
                <a:schemeClr val="tx1"/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FA15758-B6C4-8177-950E-99A7D739FC87}"/>
              </a:ext>
            </a:extLst>
          </p:cNvPr>
          <p:cNvSpPr txBox="1">
            <a:spLocks/>
          </p:cNvSpPr>
          <p:nvPr/>
        </p:nvSpPr>
        <p:spPr>
          <a:xfrm>
            <a:off x="2014" y="850651"/>
            <a:ext cx="12103510" cy="592771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1600">
              <a:solidFill>
                <a:schemeClr val="tx1"/>
              </a:solidFill>
            </a:endParaRPr>
          </a:p>
          <a:p>
            <a:endParaRPr lang="ko-KR" altLang="en-US" sz="1600">
              <a:solidFill>
                <a:schemeClr val="tx1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ko-KR" sz="1600" dirty="0">
              <a:solidFill>
                <a:schemeClr val="tx1"/>
              </a:solidFill>
            </a:endParaRP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F4D57456-6289-D1E5-C8C9-906E956A3222}"/>
              </a:ext>
            </a:extLst>
          </p:cNvPr>
          <p:cNvSpPr txBox="1">
            <a:spLocks/>
          </p:cNvSpPr>
          <p:nvPr/>
        </p:nvSpPr>
        <p:spPr>
          <a:xfrm>
            <a:off x="86476" y="865891"/>
            <a:ext cx="12103510" cy="592771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ko-KR" sz="1800" b="1" dirty="0"/>
              <a:t>메타 노드 </a:t>
            </a:r>
            <a:endParaRPr lang="ko-KR" altLang="ko-KR" sz="1800" dirty="0"/>
          </a:p>
          <a:p>
            <a:pPr marL="0" indent="0">
              <a:buNone/>
            </a:pPr>
            <a:r>
              <a:rPr lang="ko-KR" altLang="ko-KR" sz="1800" dirty="0" err="1"/>
              <a:t>스도쿠의</a:t>
            </a:r>
            <a:r>
              <a:rPr lang="ko-KR" altLang="ko-KR" sz="1800" dirty="0"/>
              <a:t> 제약은 단순히 각 셀의 값뿐 아니라 </a:t>
            </a:r>
            <a:r>
              <a:rPr lang="ko-KR" altLang="ko-KR" sz="1800" b="1" dirty="0"/>
              <a:t>행</a:t>
            </a:r>
            <a:r>
              <a:rPr lang="en-US" altLang="ko-KR" sz="1800" b="1" dirty="0"/>
              <a:t>·</a:t>
            </a:r>
            <a:r>
              <a:rPr lang="ko-KR" altLang="ko-KR" sz="1800" b="1" dirty="0"/>
              <a:t>열</a:t>
            </a:r>
            <a:r>
              <a:rPr lang="en-US" altLang="ko-KR" sz="1800" b="1" dirty="0"/>
              <a:t>·</a:t>
            </a:r>
            <a:r>
              <a:rPr lang="ko-KR" altLang="ko-KR" sz="1800" b="1" dirty="0"/>
              <a:t>블록 전체 구성</a:t>
            </a:r>
            <a:r>
              <a:rPr lang="ko-KR" altLang="ko-KR" sz="1800" dirty="0"/>
              <a:t>에 의해 정의된다</a:t>
            </a:r>
            <a:r>
              <a:rPr lang="en-US" altLang="ko-KR" sz="1800" dirty="0"/>
              <a:t>.</a:t>
            </a:r>
            <a:br>
              <a:rPr lang="en-US" altLang="ko-KR" sz="1800" dirty="0"/>
            </a:br>
            <a:r>
              <a:rPr lang="ko-KR" altLang="ko-KR" sz="1800" dirty="0"/>
              <a:t>이를</a:t>
            </a:r>
            <a:r>
              <a:rPr lang="en-US" altLang="ko-KR" sz="1800" dirty="0"/>
              <a:t> GNN </a:t>
            </a:r>
            <a:r>
              <a:rPr lang="ko-KR" altLang="ko-KR" sz="1800" dirty="0"/>
              <a:t>구조에 반영하기 위해 다음 노드를 추가한다</a:t>
            </a:r>
            <a:r>
              <a:rPr lang="en-US" altLang="ko-KR" sz="1800" dirty="0"/>
              <a:t>.</a:t>
            </a:r>
          </a:p>
          <a:p>
            <a:pPr marL="0" indent="0">
              <a:buNone/>
            </a:pPr>
            <a:endParaRPr lang="en-US" altLang="ko-KR" sz="1800" dirty="0"/>
          </a:p>
          <a:p>
            <a:pPr marL="0" indent="0">
              <a:buNone/>
            </a:pPr>
            <a:endParaRPr lang="en-US" altLang="ko-KR" sz="1800" dirty="0"/>
          </a:p>
          <a:p>
            <a:pPr marL="0" indent="0">
              <a:buNone/>
            </a:pPr>
            <a:endParaRPr lang="en-US" altLang="ko-KR" sz="1800" dirty="0"/>
          </a:p>
          <a:p>
            <a:pPr marL="0" indent="0">
              <a:buNone/>
            </a:pPr>
            <a:endParaRPr lang="en-US" altLang="ko-KR" sz="1800" dirty="0"/>
          </a:p>
          <a:p>
            <a:pPr marL="0" indent="0">
              <a:buNone/>
            </a:pPr>
            <a:r>
              <a:rPr lang="ko-KR" altLang="ko-KR" sz="1800" dirty="0"/>
              <a:t>이</a:t>
            </a:r>
            <a:r>
              <a:rPr lang="en-US" altLang="ko-KR" sz="1800" dirty="0"/>
              <a:t> meta node</a:t>
            </a:r>
            <a:r>
              <a:rPr lang="ko-KR" altLang="ko-KR" sz="1800" dirty="0"/>
              <a:t>는 현재까지 배치된 숫자들의</a:t>
            </a:r>
            <a:r>
              <a:rPr lang="en-US" altLang="ko-KR" sz="1800" dirty="0"/>
              <a:t> one-hot </a:t>
            </a:r>
            <a:r>
              <a:rPr lang="ko-KR" altLang="ko-KR" sz="1800" dirty="0"/>
              <a:t>누적 벡터를 담고 있어</a:t>
            </a:r>
            <a:r>
              <a:rPr lang="en-US" altLang="ko-KR" sz="1800" dirty="0"/>
              <a:t>,</a:t>
            </a:r>
            <a:br>
              <a:rPr lang="en-US" altLang="ko-KR" sz="1800" dirty="0"/>
            </a:br>
            <a:r>
              <a:rPr lang="en-US" altLang="ko-KR" sz="1800" b="1" dirty="0"/>
              <a:t>GNN </a:t>
            </a:r>
            <a:r>
              <a:rPr lang="ko-KR" altLang="ko-KR" sz="1800" b="1" dirty="0"/>
              <a:t>메시지 </a:t>
            </a:r>
            <a:r>
              <a:rPr lang="ko-KR" altLang="ko-KR" sz="1800" b="1" dirty="0" err="1"/>
              <a:t>패싱을</a:t>
            </a:r>
            <a:r>
              <a:rPr lang="ko-KR" altLang="ko-KR" sz="1800" b="1" dirty="0"/>
              <a:t> 통해 행</a:t>
            </a:r>
            <a:r>
              <a:rPr lang="en-US" altLang="ko-KR" sz="1800" b="1" dirty="0"/>
              <a:t>·</a:t>
            </a:r>
            <a:r>
              <a:rPr lang="ko-KR" altLang="ko-KR" sz="1800" b="1" dirty="0"/>
              <a:t>열</a:t>
            </a:r>
            <a:r>
              <a:rPr lang="en-US" altLang="ko-KR" sz="1800" b="1" dirty="0"/>
              <a:t>·</a:t>
            </a:r>
            <a:r>
              <a:rPr lang="ko-KR" altLang="ko-KR" sz="1800" b="1" dirty="0"/>
              <a:t>블록 제약을 자연스럽게 정책이 학습</a:t>
            </a:r>
            <a:r>
              <a:rPr lang="ko-KR" altLang="ko-KR" sz="1800" dirty="0"/>
              <a:t>할 수 있게 한다</a:t>
            </a:r>
            <a:r>
              <a:rPr lang="en-US" altLang="ko-KR" sz="1800" dirty="0"/>
              <a:t>.</a:t>
            </a:r>
            <a:endParaRPr lang="ko-KR" altLang="ko-KR" sz="1800" dirty="0"/>
          </a:p>
          <a:p>
            <a:pPr marL="0" indent="0">
              <a:buNone/>
            </a:pPr>
            <a:endParaRPr lang="ko-KR" altLang="ko-KR" sz="1800" dirty="0"/>
          </a:p>
          <a:p>
            <a:pPr marL="0" indent="0">
              <a:buNone/>
            </a:pPr>
            <a:br>
              <a:rPr lang="en-US" altLang="ko-KR" sz="1800" dirty="0"/>
            </a:br>
            <a:endParaRPr lang="en-US" altLang="ko-KR" sz="1800" dirty="0">
              <a:solidFill>
                <a:schemeClr val="tx1"/>
              </a:solidFill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DC954AB4-F000-401E-CF74-8D19833409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2482" y="2624578"/>
            <a:ext cx="6067035" cy="1608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46304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5CD1D1-B4C4-F6B1-C398-CC98DBC0CA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>
            <a:extLst>
              <a:ext uri="{FF2B5EF4-FFF2-40B4-BE49-F238E27FC236}">
                <a16:creationId xmlns:a16="http://schemas.microsoft.com/office/drawing/2014/main" id="{BA8DE672-3F33-C86C-A91F-4C0819CA8C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55695"/>
          </a:xfrm>
        </p:spPr>
        <p:txBody>
          <a:bodyPr>
            <a:normAutofit/>
          </a:bodyPr>
          <a:lstStyle/>
          <a:p>
            <a:r>
              <a:rPr lang="en-US" altLang="ko-KR" b="1" dirty="0"/>
              <a:t>2. </a:t>
            </a:r>
            <a:r>
              <a:rPr lang="ko-KR" altLang="ko-KR" b="1" dirty="0"/>
              <a:t>환경 및 문제 설계 </a:t>
            </a:r>
            <a:endParaRPr lang="en-US" altLang="ko-KR" b="1" dirty="0"/>
          </a:p>
        </p:txBody>
      </p:sp>
      <p:sp>
        <p:nvSpPr>
          <p:cNvPr id="2" name="슬라이드 번호 개체 틀 4">
            <a:extLst>
              <a:ext uri="{FF2B5EF4-FFF2-40B4-BE49-F238E27FC236}">
                <a16:creationId xmlns:a16="http://schemas.microsoft.com/office/drawing/2014/main" id="{3CD989AA-3B92-A8A8-3634-C10C7307E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167768A3-AC29-4B30-B97D-8EE275BA7DF4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CC7D4B0E-367C-BA7A-DFC3-DF027C8AFD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45" y="864973"/>
            <a:ext cx="12103510" cy="5927713"/>
          </a:xfrm>
        </p:spPr>
        <p:txBody>
          <a:bodyPr vert="horz" lIns="91440" tIns="45720" rIns="91440" bIns="45720" rtlCol="0" anchor="t">
            <a:noAutofit/>
          </a:bodyPr>
          <a:lstStyle/>
          <a:p>
            <a:endParaRPr lang="ko-KR" altLang="en-US" sz="1600" dirty="0">
              <a:solidFill>
                <a:schemeClr val="tx1"/>
              </a:solidFill>
            </a:endParaRPr>
          </a:p>
          <a:p>
            <a:endParaRPr lang="ko-KR" altLang="en-US" sz="16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ko-KR" sz="1600" dirty="0">
              <a:solidFill>
                <a:schemeClr val="tx1"/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B6C4533-2E75-DD58-C763-09E2386ECA8D}"/>
              </a:ext>
            </a:extLst>
          </p:cNvPr>
          <p:cNvSpPr txBox="1">
            <a:spLocks/>
          </p:cNvSpPr>
          <p:nvPr/>
        </p:nvSpPr>
        <p:spPr>
          <a:xfrm>
            <a:off x="2014" y="850651"/>
            <a:ext cx="12103510" cy="592771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1600">
              <a:solidFill>
                <a:schemeClr val="tx1"/>
              </a:solidFill>
            </a:endParaRPr>
          </a:p>
          <a:p>
            <a:endParaRPr lang="ko-KR" altLang="en-US" sz="1600">
              <a:solidFill>
                <a:schemeClr val="tx1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ko-KR" sz="1600" dirty="0">
              <a:solidFill>
                <a:schemeClr val="tx1"/>
              </a:solidFill>
            </a:endParaRP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21C01B0A-E92C-26AC-1238-EC998986C0B8}"/>
              </a:ext>
            </a:extLst>
          </p:cNvPr>
          <p:cNvSpPr txBox="1">
            <a:spLocks/>
          </p:cNvSpPr>
          <p:nvPr/>
        </p:nvSpPr>
        <p:spPr>
          <a:xfrm>
            <a:off x="86476" y="865891"/>
            <a:ext cx="12103510" cy="592771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400" b="1" dirty="0"/>
              <a:t>2.4 </a:t>
            </a:r>
            <a:r>
              <a:rPr lang="ko-KR" altLang="ko-KR" sz="1400" b="1" dirty="0" err="1"/>
              <a:t>엣지</a:t>
            </a:r>
            <a:r>
              <a:rPr lang="ko-KR" altLang="ko-KR" sz="1400" b="1" dirty="0"/>
              <a:t> 구조</a:t>
            </a:r>
            <a:endParaRPr lang="ko-KR" altLang="ko-KR" sz="1400" dirty="0"/>
          </a:p>
          <a:p>
            <a:pPr marL="0" indent="0">
              <a:buNone/>
            </a:pPr>
            <a:r>
              <a:rPr lang="ko-KR" altLang="ko-KR" sz="1400" dirty="0"/>
              <a:t>다음과 같이 완전한</a:t>
            </a:r>
            <a:r>
              <a:rPr lang="en-US" altLang="ko-KR" sz="1400" dirty="0"/>
              <a:t> bipartite </a:t>
            </a:r>
            <a:r>
              <a:rPr lang="ko-KR" altLang="ko-KR" sz="1400" dirty="0"/>
              <a:t>구조를 형성한다</a:t>
            </a:r>
            <a:r>
              <a:rPr lang="en-US" altLang="ko-KR" sz="1400" dirty="0"/>
              <a:t>.</a:t>
            </a:r>
            <a:endParaRPr lang="ko-KR" altLang="ko-KR" sz="1400" dirty="0"/>
          </a:p>
          <a:p>
            <a:pPr marL="0" indent="0">
              <a:buNone/>
            </a:pPr>
            <a:r>
              <a:rPr lang="ko-KR" altLang="ko-KR" sz="1400" b="1" dirty="0"/>
              <a:t>셀</a:t>
            </a:r>
            <a:r>
              <a:rPr lang="en-US" altLang="ko-KR" sz="1400" b="1" dirty="0"/>
              <a:t> ↔ row meta</a:t>
            </a:r>
            <a:endParaRPr lang="ko-KR" altLang="ko-KR" sz="1400" dirty="0"/>
          </a:p>
          <a:p>
            <a:pPr marL="0" lvl="0" indent="0">
              <a:buNone/>
            </a:pPr>
            <a:r>
              <a:rPr lang="ko-KR" altLang="ko-KR" sz="1400" dirty="0"/>
              <a:t>셀은 같은 행</a:t>
            </a:r>
            <a:r>
              <a:rPr lang="en-US" altLang="ko-KR" sz="1400" dirty="0"/>
              <a:t> meta node</a:t>
            </a:r>
            <a:r>
              <a:rPr lang="ko-KR" altLang="ko-KR" sz="1400" dirty="0"/>
              <a:t>와 연결</a:t>
            </a:r>
          </a:p>
          <a:p>
            <a:pPr marL="0" lvl="0" indent="0">
              <a:buNone/>
            </a:pPr>
            <a:r>
              <a:rPr lang="en-US" altLang="ko-KR" sz="1400" dirty="0"/>
              <a:t>meta node</a:t>
            </a:r>
            <a:r>
              <a:rPr lang="ko-KR" altLang="ko-KR" sz="1400" dirty="0"/>
              <a:t>는 셀들에 정보를 </a:t>
            </a:r>
            <a:r>
              <a:rPr lang="ko-KR" altLang="ko-KR" sz="1400" dirty="0" err="1"/>
              <a:t>되돌려줌</a:t>
            </a:r>
            <a:endParaRPr lang="ko-KR" altLang="ko-KR" sz="1400" dirty="0"/>
          </a:p>
          <a:p>
            <a:pPr marL="0" indent="0">
              <a:buNone/>
            </a:pPr>
            <a:r>
              <a:rPr lang="ko-KR" altLang="ko-KR" sz="1400" b="1" dirty="0"/>
              <a:t>셀</a:t>
            </a:r>
            <a:r>
              <a:rPr lang="en-US" altLang="ko-KR" sz="1400" b="1" dirty="0"/>
              <a:t> ↔ col meta</a:t>
            </a:r>
            <a:endParaRPr lang="ko-KR" altLang="ko-KR" sz="1400" dirty="0"/>
          </a:p>
          <a:p>
            <a:pPr marL="0" lvl="0" indent="0">
              <a:buNone/>
            </a:pPr>
            <a:r>
              <a:rPr lang="ko-KR" altLang="ko-KR" sz="1400" dirty="0"/>
              <a:t>동일한 열 메타 노드와 연결</a:t>
            </a:r>
          </a:p>
          <a:p>
            <a:pPr marL="0" indent="0">
              <a:buNone/>
            </a:pPr>
            <a:r>
              <a:rPr lang="ko-KR" altLang="ko-KR" sz="1400" b="1" dirty="0"/>
              <a:t>셀</a:t>
            </a:r>
            <a:r>
              <a:rPr lang="en-US" altLang="ko-KR" sz="1400" b="1" dirty="0"/>
              <a:t> ↔ block meta</a:t>
            </a:r>
            <a:endParaRPr lang="ko-KR" altLang="ko-KR" sz="1400" dirty="0"/>
          </a:p>
          <a:p>
            <a:pPr marL="0" lvl="0" indent="0">
              <a:buNone/>
            </a:pPr>
            <a:r>
              <a:rPr lang="ko-KR" altLang="ko-KR" sz="1400" dirty="0"/>
              <a:t>해당 블록에 속한 블록</a:t>
            </a:r>
            <a:r>
              <a:rPr lang="en-US" altLang="ko-KR" sz="1400" dirty="0"/>
              <a:t> meta node</a:t>
            </a:r>
            <a:r>
              <a:rPr lang="ko-KR" altLang="ko-KR" sz="1400" dirty="0"/>
              <a:t>와 연결</a:t>
            </a:r>
          </a:p>
          <a:p>
            <a:pPr marL="0" indent="0">
              <a:buNone/>
            </a:pPr>
            <a:r>
              <a:rPr lang="ko-KR" altLang="ko-KR" sz="1400" b="1" dirty="0"/>
              <a:t>이 </a:t>
            </a:r>
            <a:r>
              <a:rPr lang="ko-KR" altLang="ko-KR" sz="1400" b="1" dirty="0" err="1"/>
              <a:t>엣지</a:t>
            </a:r>
            <a:r>
              <a:rPr lang="ko-KR" altLang="ko-KR" sz="1400" b="1" dirty="0"/>
              <a:t> 시스템을 통해 </a:t>
            </a:r>
            <a:r>
              <a:rPr lang="ko-KR" altLang="ko-KR" sz="1400" b="1" dirty="0" err="1"/>
              <a:t>스도쿠의</a:t>
            </a:r>
            <a:r>
              <a:rPr lang="ko-KR" altLang="ko-KR" sz="1400" b="1" dirty="0"/>
              <a:t> 전역 제약은 메시지 </a:t>
            </a:r>
            <a:r>
              <a:rPr lang="ko-KR" altLang="ko-KR" sz="1400" b="1" dirty="0" err="1"/>
              <a:t>패싱을</a:t>
            </a:r>
            <a:r>
              <a:rPr lang="ko-KR" altLang="ko-KR" sz="1400" b="1" dirty="0"/>
              <a:t> 통해</a:t>
            </a:r>
            <a:r>
              <a:rPr lang="en-US" altLang="ko-KR" sz="1400" b="1" dirty="0"/>
              <a:t> GNN</a:t>
            </a:r>
            <a:r>
              <a:rPr lang="ko-KR" altLang="ko-KR" sz="1400" b="1" dirty="0"/>
              <a:t>에</a:t>
            </a:r>
            <a:r>
              <a:rPr lang="en-US" altLang="ko-KR" sz="1400" b="1" dirty="0"/>
              <a:t> ‘</a:t>
            </a:r>
            <a:r>
              <a:rPr lang="ko-KR" altLang="ko-KR" sz="1400" b="1" dirty="0"/>
              <a:t>구조적으로 인코딩</a:t>
            </a:r>
            <a:r>
              <a:rPr lang="en-US" altLang="ko-KR" sz="1400" b="1" dirty="0"/>
              <a:t>’ </a:t>
            </a:r>
            <a:r>
              <a:rPr lang="ko-KR" altLang="ko-KR" sz="1400" b="1" dirty="0"/>
              <a:t>된다</a:t>
            </a:r>
            <a:r>
              <a:rPr lang="en-US" altLang="ko-KR" sz="1400" b="1" dirty="0"/>
              <a:t>.</a:t>
            </a:r>
            <a:br>
              <a:rPr lang="en-US" altLang="ko-KR" sz="1400" dirty="0"/>
            </a:br>
            <a:r>
              <a:rPr lang="ko-KR" altLang="ko-KR" sz="1400" dirty="0"/>
              <a:t>단순</a:t>
            </a:r>
            <a:r>
              <a:rPr lang="en-US" altLang="ko-KR" sz="1400" dirty="0"/>
              <a:t> Dense Layer </a:t>
            </a:r>
            <a:r>
              <a:rPr lang="ko-KR" altLang="ko-KR" sz="1400" dirty="0"/>
              <a:t>기반 모델로는 이 구조를 명시적으로 반영하기 어렵기 때문에</a:t>
            </a:r>
            <a:r>
              <a:rPr lang="en-US" altLang="ko-KR" sz="1400" dirty="0"/>
              <a:t>, GNN</a:t>
            </a:r>
            <a:r>
              <a:rPr lang="ko-KR" altLang="ko-KR" sz="1400" dirty="0"/>
              <a:t>의 도입은 본 문제에 매우 적합하다</a:t>
            </a:r>
            <a:r>
              <a:rPr lang="en-US" altLang="ko-KR" sz="1400" dirty="0"/>
              <a:t>.</a:t>
            </a:r>
            <a:endParaRPr lang="ko-KR" altLang="ko-KR" sz="1400" dirty="0"/>
          </a:p>
          <a:p>
            <a:pPr marL="0" indent="0">
              <a:buNone/>
            </a:pPr>
            <a:endParaRPr lang="ko-KR" altLang="ko-KR" sz="1400" dirty="0"/>
          </a:p>
        </p:txBody>
      </p:sp>
    </p:spTree>
    <p:extLst>
      <p:ext uri="{BB962C8B-B14F-4D97-AF65-F5344CB8AC3E}">
        <p14:creationId xmlns:p14="http://schemas.microsoft.com/office/powerpoint/2010/main" val="15987356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D542AF-2F7D-C77B-EC8F-663D12641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>
            <a:extLst>
              <a:ext uri="{FF2B5EF4-FFF2-40B4-BE49-F238E27FC236}">
                <a16:creationId xmlns:a16="http://schemas.microsoft.com/office/drawing/2014/main" id="{2A2FB82D-1E9E-6BA5-9524-B3017918B5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55695"/>
          </a:xfrm>
        </p:spPr>
        <p:txBody>
          <a:bodyPr>
            <a:normAutofit/>
          </a:bodyPr>
          <a:lstStyle/>
          <a:p>
            <a:r>
              <a:rPr lang="en-US" altLang="ko-KR" b="1" dirty="0"/>
              <a:t>2. </a:t>
            </a:r>
            <a:r>
              <a:rPr lang="ko-KR" altLang="ko-KR" b="1" dirty="0"/>
              <a:t>환경 및 문제 설계 </a:t>
            </a:r>
            <a:endParaRPr lang="en-US" altLang="ko-KR" b="1" dirty="0"/>
          </a:p>
        </p:txBody>
      </p:sp>
      <p:sp>
        <p:nvSpPr>
          <p:cNvPr id="2" name="슬라이드 번호 개체 틀 4">
            <a:extLst>
              <a:ext uri="{FF2B5EF4-FFF2-40B4-BE49-F238E27FC236}">
                <a16:creationId xmlns:a16="http://schemas.microsoft.com/office/drawing/2014/main" id="{899CFEC1-D0E1-277A-E87B-C15AD262F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167768A3-AC29-4B30-B97D-8EE275BA7DF4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7DF29274-D5A2-0622-3485-F70CA0E031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45" y="864973"/>
            <a:ext cx="12103510" cy="5927713"/>
          </a:xfrm>
        </p:spPr>
        <p:txBody>
          <a:bodyPr vert="horz" lIns="91440" tIns="45720" rIns="91440" bIns="45720" rtlCol="0" anchor="t">
            <a:noAutofit/>
          </a:bodyPr>
          <a:lstStyle/>
          <a:p>
            <a:endParaRPr lang="ko-KR" altLang="en-US" sz="1600" dirty="0">
              <a:solidFill>
                <a:schemeClr val="tx1"/>
              </a:solidFill>
            </a:endParaRPr>
          </a:p>
          <a:p>
            <a:endParaRPr lang="ko-KR" altLang="en-US" sz="16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ko-KR" sz="1600" dirty="0">
              <a:solidFill>
                <a:schemeClr val="tx1"/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1826AE-4A93-EFF4-AE0F-7029CB446E7A}"/>
              </a:ext>
            </a:extLst>
          </p:cNvPr>
          <p:cNvSpPr txBox="1">
            <a:spLocks/>
          </p:cNvSpPr>
          <p:nvPr/>
        </p:nvSpPr>
        <p:spPr>
          <a:xfrm>
            <a:off x="2014" y="850651"/>
            <a:ext cx="12103510" cy="592771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1600">
              <a:solidFill>
                <a:schemeClr val="tx1"/>
              </a:solidFill>
            </a:endParaRPr>
          </a:p>
          <a:p>
            <a:endParaRPr lang="ko-KR" altLang="en-US" sz="1600">
              <a:solidFill>
                <a:schemeClr val="tx1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ko-KR" sz="1600" dirty="0">
              <a:solidFill>
                <a:schemeClr val="tx1"/>
              </a:solidFill>
            </a:endParaRP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69639617-96B3-5E02-E2CB-069712103BCC}"/>
              </a:ext>
            </a:extLst>
          </p:cNvPr>
          <p:cNvSpPr txBox="1">
            <a:spLocks/>
          </p:cNvSpPr>
          <p:nvPr/>
        </p:nvSpPr>
        <p:spPr>
          <a:xfrm>
            <a:off x="86476" y="865891"/>
            <a:ext cx="12103510" cy="592771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800" dirty="0"/>
              <a:t>2.5 </a:t>
            </a:r>
            <a:r>
              <a:rPr lang="ko-KR" altLang="en-US" sz="1800" dirty="0"/>
              <a:t>행동 설계</a:t>
            </a:r>
            <a:endParaRPr lang="en-US" altLang="ko-KR" sz="1800" dirty="0"/>
          </a:p>
          <a:p>
            <a:pPr marL="0" indent="0">
              <a:buNone/>
            </a:pPr>
            <a:r>
              <a:rPr lang="en-US" altLang="ko-KR" sz="1800" dirty="0"/>
              <a:t>Action = (cell, digit) </a:t>
            </a:r>
            <a:r>
              <a:rPr lang="ko-KR" altLang="en-US" sz="1800" dirty="0"/>
              <a:t>조합을 </a:t>
            </a:r>
            <a:r>
              <a:rPr lang="en-US" altLang="ko-KR" sz="1800" dirty="0"/>
              <a:t>1D index</a:t>
            </a:r>
            <a:r>
              <a:rPr lang="ko-KR" altLang="en-US" sz="1800" dirty="0"/>
              <a:t>로 변환</a:t>
            </a:r>
            <a:br>
              <a:rPr lang="ko-KR" altLang="en-US" sz="1800" dirty="0"/>
            </a:br>
            <a:r>
              <a:rPr lang="en-US" altLang="ko-KR" sz="1800" dirty="0"/>
              <a:t>4×4</a:t>
            </a:r>
            <a:r>
              <a:rPr lang="ko-KR" altLang="en-US" sz="1800" dirty="0"/>
              <a:t>는 </a:t>
            </a:r>
            <a:r>
              <a:rPr lang="en-US" altLang="ko-KR" sz="1800" dirty="0"/>
              <a:t>16×4 = 64 actions, 9×9</a:t>
            </a:r>
            <a:r>
              <a:rPr lang="ko-KR" altLang="en-US" sz="1800" dirty="0"/>
              <a:t>는 </a:t>
            </a:r>
            <a:r>
              <a:rPr lang="en-US" altLang="ko-KR" sz="1800" dirty="0"/>
              <a:t>81×9 = 729 actions</a:t>
            </a:r>
          </a:p>
          <a:p>
            <a:pPr marL="0" indent="0">
              <a:buNone/>
            </a:pPr>
            <a:r>
              <a:rPr lang="en-US" altLang="ko-KR" sz="1800" dirty="0"/>
              <a:t>2.6 </a:t>
            </a:r>
            <a:r>
              <a:rPr lang="ko-KR" altLang="en-US" sz="1800" dirty="0"/>
              <a:t>마스크 설계</a:t>
            </a:r>
            <a:br>
              <a:rPr lang="en-US" altLang="ko-KR" sz="1800" dirty="0"/>
            </a:br>
            <a:r>
              <a:rPr lang="ko-KR" altLang="en-US" sz="1800" dirty="0"/>
              <a:t>대부분 불가능한 행동이므로 </a:t>
            </a:r>
            <a:r>
              <a:rPr lang="en-US" altLang="ko-KR" sz="1800" dirty="0"/>
              <a:t>valid action mask </a:t>
            </a:r>
            <a:r>
              <a:rPr lang="ko-KR" altLang="en-US" sz="1800" dirty="0"/>
              <a:t>필수</a:t>
            </a:r>
            <a:br>
              <a:rPr lang="ko-KR" altLang="en-US" sz="1800" dirty="0"/>
            </a:br>
            <a:r>
              <a:rPr lang="en-US" altLang="ko-KR" sz="1800" dirty="0"/>
              <a:t>logits = </a:t>
            </a:r>
            <a:r>
              <a:rPr lang="en-US" altLang="ko-KR" sz="1800" dirty="0" err="1"/>
              <a:t>logits.masked_fill</a:t>
            </a:r>
            <a:r>
              <a:rPr lang="en-US" altLang="ko-KR" sz="1800" dirty="0"/>
              <a:t>(~</a:t>
            </a:r>
            <a:r>
              <a:rPr lang="en-US" altLang="ko-KR" sz="1800" dirty="0" err="1"/>
              <a:t>valid_mask</a:t>
            </a:r>
            <a:r>
              <a:rPr lang="en-US" altLang="ko-KR" sz="1800" dirty="0"/>
              <a:t>, -1e9)</a:t>
            </a:r>
            <a:br>
              <a:rPr lang="en-US" altLang="ko-KR" sz="1800" dirty="0"/>
            </a:br>
            <a:r>
              <a:rPr lang="ko-KR" altLang="en-US" sz="1800" dirty="0"/>
              <a:t>불가능한 행동 확률을 </a:t>
            </a:r>
            <a:r>
              <a:rPr lang="en-US" altLang="ko-KR" sz="1800" dirty="0"/>
              <a:t>0</a:t>
            </a:r>
            <a:r>
              <a:rPr lang="ko-KR" altLang="en-US" sz="1800" dirty="0"/>
              <a:t>으로 만들어 학습 안정성과 탐색 효율 증가</a:t>
            </a:r>
            <a:br>
              <a:rPr lang="en-US" altLang="ko-KR" dirty="0"/>
            </a:br>
            <a:endParaRPr lang="en-US" altLang="ko-KR" sz="1600" dirty="0">
              <a:solidFill>
                <a:schemeClr val="tx1"/>
              </a:solidFill>
            </a:endParaRPr>
          </a:p>
        </p:txBody>
      </p:sp>
      <p:pic>
        <p:nvPicPr>
          <p:cNvPr id="8" name="그림 7" descr="텍스트, 번호, 사각형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E529E39-ECF8-81D9-6C33-C9A6825C5A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423"/>
          <a:stretch>
            <a:fillRect/>
          </a:stretch>
        </p:blipFill>
        <p:spPr>
          <a:xfrm>
            <a:off x="2218704" y="4130840"/>
            <a:ext cx="2640272" cy="2576176"/>
          </a:xfrm>
          <a:prstGeom prst="rect">
            <a:avLst/>
          </a:prstGeom>
        </p:spPr>
      </p:pic>
      <p:grpSp>
        <p:nvGrpSpPr>
          <p:cNvPr id="28" name="그룹 27">
            <a:extLst>
              <a:ext uri="{FF2B5EF4-FFF2-40B4-BE49-F238E27FC236}">
                <a16:creationId xmlns:a16="http://schemas.microsoft.com/office/drawing/2014/main" id="{859C6D42-BF5C-9CC8-41EC-24D3B94677B8}"/>
              </a:ext>
            </a:extLst>
          </p:cNvPr>
          <p:cNvGrpSpPr/>
          <p:nvPr/>
        </p:nvGrpSpPr>
        <p:grpSpPr>
          <a:xfrm>
            <a:off x="6865922" y="4083898"/>
            <a:ext cx="2640272" cy="2576176"/>
            <a:chOff x="2004429" y="3526044"/>
            <a:chExt cx="2640272" cy="2576176"/>
          </a:xfrm>
        </p:grpSpPr>
        <p:pic>
          <p:nvPicPr>
            <p:cNvPr id="5" name="그림 4" descr="텍스트, 번호, 사각형, 라인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7B43D293-792E-B20E-EEDE-E0B0879BA41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5423"/>
            <a:stretch>
              <a:fillRect/>
            </a:stretch>
          </p:blipFill>
          <p:spPr>
            <a:xfrm>
              <a:off x="2004429" y="3526044"/>
              <a:ext cx="2640272" cy="2576176"/>
            </a:xfrm>
            <a:prstGeom prst="rect">
              <a:avLst/>
            </a:prstGeom>
          </p:spPr>
        </p:pic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F6197BDD-8735-B60B-251C-B262B5E8DE0C}"/>
                </a:ext>
              </a:extLst>
            </p:cNvPr>
            <p:cNvSpPr/>
            <p:nvPr/>
          </p:nvSpPr>
          <p:spPr>
            <a:xfrm>
              <a:off x="2939386" y="3643094"/>
              <a:ext cx="251926" cy="22393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0054418E-737C-DA85-7617-239995716E37}"/>
                </a:ext>
              </a:extLst>
            </p:cNvPr>
            <p:cNvSpPr/>
            <p:nvPr/>
          </p:nvSpPr>
          <p:spPr>
            <a:xfrm>
              <a:off x="2643215" y="3643093"/>
              <a:ext cx="251926" cy="22393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DDADF84B-52D8-5CCD-B233-EF6C678C01DB}"/>
                </a:ext>
              </a:extLst>
            </p:cNvPr>
            <p:cNvSpPr/>
            <p:nvPr/>
          </p:nvSpPr>
          <p:spPr>
            <a:xfrm>
              <a:off x="3495872" y="3643092"/>
              <a:ext cx="251926" cy="22393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6FCE2265-904B-9D1C-C9FC-8A689F6CB072}"/>
                </a:ext>
              </a:extLst>
            </p:cNvPr>
            <p:cNvSpPr/>
            <p:nvPr/>
          </p:nvSpPr>
          <p:spPr>
            <a:xfrm>
              <a:off x="3747798" y="3643091"/>
              <a:ext cx="251926" cy="22393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7AE197DB-75EF-3C7C-2379-102A70F36567}"/>
                </a:ext>
              </a:extLst>
            </p:cNvPr>
            <p:cNvSpPr/>
            <p:nvPr/>
          </p:nvSpPr>
          <p:spPr>
            <a:xfrm>
              <a:off x="4035493" y="3921456"/>
              <a:ext cx="251926" cy="22393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14363994-C4BE-BB47-E640-202D3B738B33}"/>
                </a:ext>
              </a:extLst>
            </p:cNvPr>
            <p:cNvSpPr/>
            <p:nvPr/>
          </p:nvSpPr>
          <p:spPr>
            <a:xfrm>
              <a:off x="2391289" y="3921455"/>
              <a:ext cx="251926" cy="22393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D7EA3D09-C73C-6AE1-B978-3BF06228C568}"/>
                </a:ext>
              </a:extLst>
            </p:cNvPr>
            <p:cNvSpPr/>
            <p:nvPr/>
          </p:nvSpPr>
          <p:spPr>
            <a:xfrm>
              <a:off x="2939386" y="4178048"/>
              <a:ext cx="251926" cy="22393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BF0CD0DE-A069-95F7-564A-1DE9EB453175}"/>
                </a:ext>
              </a:extLst>
            </p:cNvPr>
            <p:cNvSpPr/>
            <p:nvPr/>
          </p:nvSpPr>
          <p:spPr>
            <a:xfrm>
              <a:off x="3495872" y="4178047"/>
              <a:ext cx="251926" cy="22393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892C3345-E27C-C152-4971-1AF9F36961D6}"/>
                </a:ext>
              </a:extLst>
            </p:cNvPr>
            <p:cNvSpPr/>
            <p:nvPr/>
          </p:nvSpPr>
          <p:spPr>
            <a:xfrm>
              <a:off x="3495872" y="5266955"/>
              <a:ext cx="251926" cy="22393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51883A5C-8344-F84A-BAE3-75DC69344AC2}"/>
                </a:ext>
              </a:extLst>
            </p:cNvPr>
            <p:cNvSpPr/>
            <p:nvPr/>
          </p:nvSpPr>
          <p:spPr>
            <a:xfrm>
              <a:off x="3648272" y="3795492"/>
              <a:ext cx="251926" cy="22393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B74899EC-EA88-711C-84A7-35FDB7EE4E24}"/>
                </a:ext>
              </a:extLst>
            </p:cNvPr>
            <p:cNvSpPr/>
            <p:nvPr/>
          </p:nvSpPr>
          <p:spPr>
            <a:xfrm>
              <a:off x="3488099" y="5834231"/>
              <a:ext cx="251926" cy="22393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B50A067D-3803-9919-7544-C1867678F4F8}"/>
                </a:ext>
              </a:extLst>
            </p:cNvPr>
            <p:cNvSpPr/>
            <p:nvPr/>
          </p:nvSpPr>
          <p:spPr>
            <a:xfrm>
              <a:off x="2931612" y="5266955"/>
              <a:ext cx="251926" cy="22393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18ACE0F4-280D-EAB0-3D72-AB7F200276E5}"/>
                </a:ext>
              </a:extLst>
            </p:cNvPr>
            <p:cNvSpPr/>
            <p:nvPr/>
          </p:nvSpPr>
          <p:spPr>
            <a:xfrm>
              <a:off x="2391289" y="5562088"/>
              <a:ext cx="251926" cy="22393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4398BF5C-3936-A0EE-D3B8-1CEE8899E564}"/>
                </a:ext>
              </a:extLst>
            </p:cNvPr>
            <p:cNvSpPr/>
            <p:nvPr/>
          </p:nvSpPr>
          <p:spPr>
            <a:xfrm>
              <a:off x="2643215" y="5832154"/>
              <a:ext cx="251926" cy="22393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31D0C198-6692-180D-C3A8-1D93DA4EE1CF}"/>
                </a:ext>
              </a:extLst>
            </p:cNvPr>
            <p:cNvSpPr/>
            <p:nvPr/>
          </p:nvSpPr>
          <p:spPr>
            <a:xfrm>
              <a:off x="4035495" y="5562087"/>
              <a:ext cx="251926" cy="22393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7A8369B6-27DC-D39B-BB5A-435DF4BC735B}"/>
                </a:ext>
              </a:extLst>
            </p:cNvPr>
            <p:cNvSpPr/>
            <p:nvPr/>
          </p:nvSpPr>
          <p:spPr>
            <a:xfrm>
              <a:off x="3773496" y="5832151"/>
              <a:ext cx="251926" cy="22393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61C7E272-B931-2437-D585-F77DFFD343A1}"/>
                </a:ext>
              </a:extLst>
            </p:cNvPr>
            <p:cNvSpPr/>
            <p:nvPr/>
          </p:nvSpPr>
          <p:spPr>
            <a:xfrm>
              <a:off x="2946361" y="5832152"/>
              <a:ext cx="251926" cy="22393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2363674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33D22A-B8DA-F5F5-0EA9-6891C82808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>
            <a:extLst>
              <a:ext uri="{FF2B5EF4-FFF2-40B4-BE49-F238E27FC236}">
                <a16:creationId xmlns:a16="http://schemas.microsoft.com/office/drawing/2014/main" id="{70D4C743-BC74-FC3E-48A2-36CA016FF1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55695"/>
          </a:xfrm>
        </p:spPr>
        <p:txBody>
          <a:bodyPr>
            <a:normAutofit/>
          </a:bodyPr>
          <a:lstStyle/>
          <a:p>
            <a:r>
              <a:rPr lang="en-US" altLang="ko-KR" b="1" dirty="0"/>
              <a:t>2. </a:t>
            </a:r>
            <a:r>
              <a:rPr lang="ko-KR" altLang="ko-KR" b="1" dirty="0"/>
              <a:t>환경 및 문제 설계 </a:t>
            </a:r>
            <a:endParaRPr lang="en-US" altLang="ko-KR" b="1" dirty="0"/>
          </a:p>
        </p:txBody>
      </p:sp>
      <p:sp>
        <p:nvSpPr>
          <p:cNvPr id="2" name="슬라이드 번호 개체 틀 4">
            <a:extLst>
              <a:ext uri="{FF2B5EF4-FFF2-40B4-BE49-F238E27FC236}">
                <a16:creationId xmlns:a16="http://schemas.microsoft.com/office/drawing/2014/main" id="{FB746CDD-0431-3448-8715-09870E690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167768A3-AC29-4B30-B97D-8EE275BA7DF4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F26D8F84-06F1-6992-36A3-BBD3430338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45" y="864973"/>
            <a:ext cx="12103510" cy="5927713"/>
          </a:xfrm>
        </p:spPr>
        <p:txBody>
          <a:bodyPr vert="horz" lIns="91440" tIns="45720" rIns="91440" bIns="45720" rtlCol="0" anchor="t">
            <a:noAutofit/>
          </a:bodyPr>
          <a:lstStyle/>
          <a:p>
            <a:endParaRPr lang="ko-KR" altLang="en-US" sz="1600" dirty="0">
              <a:solidFill>
                <a:schemeClr val="tx1"/>
              </a:solidFill>
            </a:endParaRPr>
          </a:p>
          <a:p>
            <a:endParaRPr lang="ko-KR" altLang="en-US" sz="16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ko-KR" sz="1600" dirty="0">
              <a:solidFill>
                <a:schemeClr val="tx1"/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AE748F-3496-9A55-2E1A-A396772C9792}"/>
              </a:ext>
            </a:extLst>
          </p:cNvPr>
          <p:cNvSpPr txBox="1">
            <a:spLocks/>
          </p:cNvSpPr>
          <p:nvPr/>
        </p:nvSpPr>
        <p:spPr>
          <a:xfrm>
            <a:off x="2014" y="850651"/>
            <a:ext cx="12103510" cy="592771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1600">
              <a:solidFill>
                <a:schemeClr val="tx1"/>
              </a:solidFill>
            </a:endParaRPr>
          </a:p>
          <a:p>
            <a:endParaRPr lang="ko-KR" altLang="en-US" sz="1600">
              <a:solidFill>
                <a:schemeClr val="tx1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ko-KR" sz="1600" dirty="0">
              <a:solidFill>
                <a:schemeClr val="tx1"/>
              </a:solidFill>
            </a:endParaRP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4B1ACA7C-D706-56A9-6D56-4156B9FFE586}"/>
              </a:ext>
            </a:extLst>
          </p:cNvPr>
          <p:cNvSpPr txBox="1">
            <a:spLocks/>
          </p:cNvSpPr>
          <p:nvPr/>
        </p:nvSpPr>
        <p:spPr>
          <a:xfrm>
            <a:off x="86476" y="865891"/>
            <a:ext cx="12103510" cy="592771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800" b="1" dirty="0"/>
              <a:t>2.7 </a:t>
            </a:r>
            <a:r>
              <a:rPr lang="ko-KR" altLang="ko-KR" sz="1800" b="1" dirty="0"/>
              <a:t>보상 설계 </a:t>
            </a:r>
            <a:endParaRPr lang="ko-KR" altLang="ko-KR" sz="1800" dirty="0"/>
          </a:p>
          <a:p>
            <a:pPr marL="0" indent="0">
              <a:buNone/>
            </a:pPr>
            <a:r>
              <a:rPr lang="ko-KR" altLang="ko-KR" sz="1800" dirty="0"/>
              <a:t>보상은 에이전트가</a:t>
            </a:r>
            <a:r>
              <a:rPr lang="en-US" altLang="ko-KR" sz="1800" dirty="0"/>
              <a:t> “</a:t>
            </a:r>
            <a:r>
              <a:rPr lang="ko-KR" altLang="ko-KR" sz="1800" dirty="0"/>
              <a:t>합리적으로 퍼즐을 </a:t>
            </a:r>
            <a:r>
              <a:rPr lang="ko-KR" altLang="ko-KR" sz="1800" dirty="0" err="1"/>
              <a:t>채워나가는</a:t>
            </a:r>
            <a:r>
              <a:rPr lang="ko-KR" altLang="ko-KR" sz="1800" dirty="0"/>
              <a:t> 방향</a:t>
            </a:r>
            <a:r>
              <a:rPr lang="en-US" altLang="ko-KR" sz="1800" dirty="0"/>
              <a:t>”</a:t>
            </a:r>
            <a:r>
              <a:rPr lang="ko-KR" altLang="ko-KR" sz="1800" dirty="0"/>
              <a:t>으로 유도되도록</a:t>
            </a:r>
            <a:r>
              <a:rPr lang="en-US" altLang="ko-KR" sz="1800" dirty="0"/>
              <a:t> </a:t>
            </a:r>
            <a:r>
              <a:rPr lang="ko-KR" altLang="ko-KR" sz="1800" dirty="0"/>
              <a:t>설계되었다</a:t>
            </a:r>
            <a:r>
              <a:rPr lang="en-US" altLang="ko-KR" sz="1800" dirty="0"/>
              <a:t>.</a:t>
            </a:r>
          </a:p>
          <a:p>
            <a:pPr marL="0" indent="0">
              <a:buNone/>
            </a:pPr>
            <a:endParaRPr lang="en-US" altLang="ko-KR" sz="1800" dirty="0"/>
          </a:p>
          <a:p>
            <a:pPr marL="0" indent="0">
              <a:buNone/>
            </a:pPr>
            <a:endParaRPr lang="en-US" altLang="ko-KR" sz="1800" dirty="0"/>
          </a:p>
          <a:p>
            <a:pPr marL="0" indent="0">
              <a:buNone/>
            </a:pPr>
            <a:endParaRPr lang="en-US" altLang="ko-KR" sz="1800" dirty="0"/>
          </a:p>
          <a:p>
            <a:pPr marL="0" indent="0">
              <a:buNone/>
            </a:pPr>
            <a:endParaRPr lang="en-US" altLang="ko-KR" sz="1800" dirty="0"/>
          </a:p>
          <a:p>
            <a:pPr marL="0" indent="0">
              <a:buNone/>
            </a:pPr>
            <a:endParaRPr lang="en-US" altLang="ko-KR" sz="1800" dirty="0"/>
          </a:p>
          <a:p>
            <a:pPr marL="0" indent="0">
              <a:buNone/>
            </a:pPr>
            <a:endParaRPr lang="en-US" altLang="ko-KR" sz="1800" dirty="0"/>
          </a:p>
          <a:p>
            <a:pPr lvl="0"/>
            <a:r>
              <a:rPr lang="ko-KR" altLang="ko-KR" sz="1800" dirty="0"/>
              <a:t>에이전트가 </a:t>
            </a:r>
            <a:r>
              <a:rPr lang="ko-KR" altLang="ko-KR" sz="1800" b="1" dirty="0"/>
              <a:t>규칙 위반을 강하게 회피</a:t>
            </a:r>
            <a:endParaRPr lang="ko-KR" altLang="ko-KR" sz="1800" dirty="0"/>
          </a:p>
          <a:p>
            <a:pPr lvl="0"/>
            <a:r>
              <a:rPr lang="ko-KR" altLang="ko-KR" sz="1800" dirty="0"/>
              <a:t>가능한 한 빨리 </a:t>
            </a:r>
            <a:r>
              <a:rPr lang="ko-KR" altLang="ko-KR" sz="1800" b="1" dirty="0"/>
              <a:t>정답에 가까운 숫자를 채움</a:t>
            </a:r>
            <a:endParaRPr lang="ko-KR" altLang="ko-KR" sz="1800" dirty="0"/>
          </a:p>
          <a:p>
            <a:pPr lvl="0"/>
            <a:r>
              <a:rPr lang="ko-KR" altLang="ko-KR" sz="1800" dirty="0"/>
              <a:t>완성도 높은 보드를 만든 경우 </a:t>
            </a:r>
            <a:r>
              <a:rPr lang="ko-KR" altLang="ko-KR" sz="1800" b="1" dirty="0"/>
              <a:t>큰 보상</a:t>
            </a:r>
            <a:endParaRPr lang="ko-KR" altLang="ko-KR" sz="1800" dirty="0"/>
          </a:p>
          <a:p>
            <a:pPr marL="0" indent="0">
              <a:buNone/>
            </a:pPr>
            <a:endParaRPr lang="ko-KR" altLang="ko-KR" sz="1800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00C89840-FB14-DAF6-1A59-9EFD8CA029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5102" y="2002022"/>
            <a:ext cx="3581795" cy="3124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90653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F6192C-54B6-D9BF-AB48-19570D7A3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>
            <a:extLst>
              <a:ext uri="{FF2B5EF4-FFF2-40B4-BE49-F238E27FC236}">
                <a16:creationId xmlns:a16="http://schemas.microsoft.com/office/drawing/2014/main" id="{9F7356CB-BB78-966F-7D86-5256B1ACC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55695"/>
          </a:xfrm>
        </p:spPr>
        <p:txBody>
          <a:bodyPr>
            <a:normAutofit/>
          </a:bodyPr>
          <a:lstStyle/>
          <a:p>
            <a:r>
              <a:rPr lang="en-US" altLang="ko-KR" b="1" dirty="0"/>
              <a:t>3. </a:t>
            </a:r>
            <a:r>
              <a:rPr lang="ko-KR" altLang="ko-KR" b="1" dirty="0"/>
              <a:t>강화학습 알고리즘 설계 </a:t>
            </a:r>
            <a:endParaRPr lang="ko-KR" altLang="ko-KR" dirty="0"/>
          </a:p>
        </p:txBody>
      </p:sp>
      <p:sp>
        <p:nvSpPr>
          <p:cNvPr id="2" name="슬라이드 번호 개체 틀 4">
            <a:extLst>
              <a:ext uri="{FF2B5EF4-FFF2-40B4-BE49-F238E27FC236}">
                <a16:creationId xmlns:a16="http://schemas.microsoft.com/office/drawing/2014/main" id="{D664EF45-3D49-11CC-096C-3825FB339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167768A3-AC29-4B30-B97D-8EE275BA7DF4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1CEC83EE-B6C3-281B-2CB7-04C3CA8CFF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45" y="864973"/>
            <a:ext cx="12103510" cy="5927713"/>
          </a:xfrm>
        </p:spPr>
        <p:txBody>
          <a:bodyPr vert="horz" lIns="91440" tIns="45720" rIns="91440" bIns="45720" rtlCol="0" anchor="t">
            <a:noAutofit/>
          </a:bodyPr>
          <a:lstStyle/>
          <a:p>
            <a:endParaRPr lang="ko-KR" altLang="en-US" sz="1600" dirty="0">
              <a:solidFill>
                <a:schemeClr val="tx1"/>
              </a:solidFill>
            </a:endParaRPr>
          </a:p>
          <a:p>
            <a:endParaRPr lang="ko-KR" altLang="en-US" sz="16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ko-KR" sz="1600" dirty="0">
              <a:solidFill>
                <a:schemeClr val="tx1"/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D0C9D70-7205-24D9-D26D-2CD0B78470E1}"/>
              </a:ext>
            </a:extLst>
          </p:cNvPr>
          <p:cNvSpPr txBox="1">
            <a:spLocks/>
          </p:cNvSpPr>
          <p:nvPr/>
        </p:nvSpPr>
        <p:spPr>
          <a:xfrm>
            <a:off x="2014" y="850651"/>
            <a:ext cx="12103510" cy="592771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1600">
              <a:solidFill>
                <a:schemeClr val="tx1"/>
              </a:solidFill>
            </a:endParaRPr>
          </a:p>
          <a:p>
            <a:endParaRPr lang="ko-KR" altLang="en-US" sz="1600">
              <a:solidFill>
                <a:schemeClr val="tx1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ko-KR" sz="1600" dirty="0">
              <a:solidFill>
                <a:schemeClr val="tx1"/>
              </a:solidFill>
            </a:endParaRP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14007FCF-F4DE-27AD-0CF1-DA2D07AC8400}"/>
              </a:ext>
            </a:extLst>
          </p:cNvPr>
          <p:cNvSpPr txBox="1">
            <a:spLocks/>
          </p:cNvSpPr>
          <p:nvPr/>
        </p:nvSpPr>
        <p:spPr>
          <a:xfrm>
            <a:off x="86476" y="865891"/>
            <a:ext cx="12103510" cy="592771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ko-KR" sz="1600" dirty="0"/>
              <a:t>본 프로젝트는 정책 기반 강화학습의 대표 알고리즘인 </a:t>
            </a:r>
            <a:r>
              <a:rPr lang="en-US" altLang="ko-KR" sz="1600" b="1" dirty="0"/>
              <a:t>Proximal Policy Optimization(PPO)</a:t>
            </a:r>
            <a:r>
              <a:rPr lang="en-US" altLang="ko-KR" sz="1600" dirty="0"/>
              <a:t> </a:t>
            </a:r>
            <a:r>
              <a:rPr lang="ko-KR" altLang="ko-KR" sz="1600" dirty="0"/>
              <a:t>을 사용한다</a:t>
            </a:r>
            <a:r>
              <a:rPr lang="en-US" altLang="ko-KR" sz="1600" dirty="0"/>
              <a:t>. PPO</a:t>
            </a:r>
            <a:r>
              <a:rPr lang="ko-KR" altLang="ko-KR" sz="1600" dirty="0"/>
              <a:t>는 단순하면서도 안정성이 뛰어나 </a:t>
            </a:r>
            <a:r>
              <a:rPr lang="ko-KR" altLang="ko-KR" sz="1600" dirty="0" err="1"/>
              <a:t>스도쿠처럼</a:t>
            </a:r>
            <a:r>
              <a:rPr lang="ko-KR" altLang="ko-KR" sz="1600" dirty="0"/>
              <a:t> 복잡한</a:t>
            </a:r>
            <a:r>
              <a:rPr lang="en-US" altLang="ko-KR" sz="1600" dirty="0"/>
              <a:t> action space</a:t>
            </a:r>
            <a:r>
              <a:rPr lang="ko-KR" altLang="ko-KR" sz="1600" dirty="0"/>
              <a:t>에서도 잘 작동한다</a:t>
            </a:r>
            <a:r>
              <a:rPr lang="en-US" altLang="ko-KR" sz="1600" dirty="0"/>
              <a:t>.</a:t>
            </a:r>
            <a:endParaRPr lang="ko-KR" altLang="ko-KR" sz="1600" dirty="0"/>
          </a:p>
          <a:p>
            <a:pPr marL="0" indent="0">
              <a:buNone/>
            </a:pPr>
            <a:r>
              <a:rPr lang="en-US" altLang="ko-KR" sz="1600" b="1" dirty="0"/>
              <a:t>3.1 </a:t>
            </a:r>
            <a:r>
              <a:rPr lang="ko-KR" altLang="ko-KR" sz="1600" b="1" dirty="0"/>
              <a:t>정책 네트워크 구조</a:t>
            </a:r>
            <a:r>
              <a:rPr lang="en-US" altLang="ko-KR" sz="1600" b="1" dirty="0"/>
              <a:t> (GNN Actor–Critic)</a:t>
            </a:r>
            <a:endParaRPr lang="ko-KR" altLang="ko-KR" sz="1600" dirty="0"/>
          </a:p>
          <a:p>
            <a:pPr marL="0" indent="0">
              <a:buNone/>
            </a:pPr>
            <a:r>
              <a:rPr lang="ko-KR" altLang="ko-KR" sz="1600" dirty="0"/>
              <a:t>정책 모델은 다음 세 부분으로 구성된다</a:t>
            </a:r>
            <a:r>
              <a:rPr lang="en-US" altLang="ko-KR" sz="1600" dirty="0"/>
              <a:t>:</a:t>
            </a:r>
            <a:endParaRPr lang="ko-KR" altLang="ko-KR" sz="1600" dirty="0"/>
          </a:p>
          <a:p>
            <a:pPr marL="0" indent="0">
              <a:buNone/>
            </a:pPr>
            <a:r>
              <a:rPr lang="en-US" altLang="ko-KR" sz="1600" b="1" dirty="0"/>
              <a:t>(1) GCN </a:t>
            </a:r>
            <a:r>
              <a:rPr lang="ko-KR" altLang="ko-KR" sz="1600" b="1" dirty="0"/>
              <a:t>기반 인코더</a:t>
            </a:r>
            <a:endParaRPr lang="ko-KR" altLang="ko-KR" sz="1600" dirty="0"/>
          </a:p>
          <a:p>
            <a:pPr marL="0" indent="0">
              <a:buNone/>
            </a:pPr>
            <a:r>
              <a:rPr lang="ko-KR" altLang="ko-KR" sz="1600" dirty="0"/>
              <a:t>여러</a:t>
            </a:r>
            <a:r>
              <a:rPr lang="en-US" altLang="ko-KR" sz="1600" dirty="0"/>
              <a:t> </a:t>
            </a:r>
            <a:r>
              <a:rPr lang="en-US" altLang="ko-KR" sz="1600" dirty="0" err="1"/>
              <a:t>GCNConv</a:t>
            </a:r>
            <a:r>
              <a:rPr lang="en-US" altLang="ko-KR" sz="1600" dirty="0"/>
              <a:t> </a:t>
            </a:r>
            <a:r>
              <a:rPr lang="ko-KR" altLang="ko-KR" sz="1600" dirty="0"/>
              <a:t>레이어</a:t>
            </a:r>
          </a:p>
          <a:p>
            <a:pPr marL="0" indent="0">
              <a:buNone/>
            </a:pPr>
            <a:r>
              <a:rPr lang="ko-KR" altLang="ko-KR" sz="1600" dirty="0"/>
              <a:t>메시지 </a:t>
            </a:r>
            <a:r>
              <a:rPr lang="ko-KR" altLang="ko-KR" sz="1600" dirty="0" err="1"/>
              <a:t>패싱으로</a:t>
            </a:r>
            <a:r>
              <a:rPr lang="en-US" altLang="ko-KR" sz="1600" dirty="0"/>
              <a:t> row/col/block </a:t>
            </a:r>
            <a:r>
              <a:rPr lang="ko-KR" altLang="ko-KR" sz="1600" dirty="0"/>
              <a:t>노드의 정보를 종합</a:t>
            </a:r>
          </a:p>
          <a:p>
            <a:pPr marL="0" indent="0">
              <a:buNone/>
            </a:pPr>
            <a:r>
              <a:rPr lang="ko-KR" altLang="ko-KR" sz="1600" dirty="0"/>
              <a:t>출력은 각 노드별</a:t>
            </a:r>
            <a:r>
              <a:rPr lang="en-US" altLang="ko-KR" sz="1600" dirty="0"/>
              <a:t> hidden representation</a:t>
            </a:r>
            <a:endParaRPr lang="ko-KR" altLang="ko-KR" sz="1600" dirty="0"/>
          </a:p>
          <a:p>
            <a:pPr marL="0" indent="0">
              <a:buNone/>
            </a:pPr>
            <a:r>
              <a:rPr lang="en-US" altLang="ko-KR" sz="1600" b="1" dirty="0"/>
              <a:t>(2) </a:t>
            </a:r>
            <a:r>
              <a:rPr lang="ko-KR" altLang="ko-KR" sz="1600" b="1" dirty="0"/>
              <a:t>그래프 </a:t>
            </a:r>
            <a:r>
              <a:rPr lang="ko-KR" altLang="ko-KR" sz="1600" b="1" dirty="0" err="1"/>
              <a:t>풀링</a:t>
            </a:r>
            <a:endParaRPr lang="ko-KR" altLang="ko-KR" sz="1600" dirty="0"/>
          </a:p>
          <a:p>
            <a:pPr marL="0" indent="0">
              <a:buNone/>
            </a:pPr>
            <a:r>
              <a:rPr lang="ko-KR" altLang="ko-KR" sz="1600" dirty="0"/>
              <a:t>전체 노드</a:t>
            </a:r>
            <a:r>
              <a:rPr lang="en-US" altLang="ko-KR" sz="1600" dirty="0"/>
              <a:t> embedding </a:t>
            </a:r>
            <a:r>
              <a:rPr lang="ko-KR" altLang="ko-KR" sz="1600" dirty="0"/>
              <a:t>을</a:t>
            </a:r>
            <a:r>
              <a:rPr lang="en-US" altLang="ko-KR" sz="1600" dirty="0"/>
              <a:t> mean-pool </a:t>
            </a:r>
            <a:r>
              <a:rPr lang="ko-KR" altLang="ko-KR" sz="1600" dirty="0"/>
              <a:t>하여</a:t>
            </a:r>
            <a:br>
              <a:rPr lang="en-US" altLang="ko-KR" sz="1600" dirty="0"/>
            </a:br>
            <a:r>
              <a:rPr lang="ko-KR" altLang="ko-KR" sz="1600" b="1" dirty="0"/>
              <a:t>그래프 전체 상태를</a:t>
            </a:r>
            <a:r>
              <a:rPr lang="en-US" altLang="ko-KR" sz="1600" b="1" dirty="0"/>
              <a:t> 1</a:t>
            </a:r>
            <a:r>
              <a:rPr lang="ko-KR" altLang="ko-KR" sz="1600" b="1" dirty="0"/>
              <a:t>개의 벡터로 압축</a:t>
            </a:r>
            <a:r>
              <a:rPr lang="ko-KR" altLang="ko-KR" sz="1600" dirty="0"/>
              <a:t>한다</a:t>
            </a:r>
            <a:r>
              <a:rPr lang="en-US" altLang="ko-KR" sz="1600" dirty="0"/>
              <a:t>.</a:t>
            </a:r>
            <a:endParaRPr lang="ko-KR" altLang="ko-KR" sz="1600" dirty="0"/>
          </a:p>
          <a:p>
            <a:pPr marL="0" indent="0">
              <a:buNone/>
            </a:pPr>
            <a:r>
              <a:rPr lang="en-US" altLang="ko-KR" sz="1600" dirty="0" err="1"/>
              <a:t>graph_feat</a:t>
            </a:r>
            <a:r>
              <a:rPr lang="en-US" altLang="ko-KR" sz="1600" dirty="0"/>
              <a:t> = </a:t>
            </a:r>
            <a:r>
              <a:rPr lang="en-US" altLang="ko-KR" sz="1600" dirty="0" err="1"/>
              <a:t>global_mean_pool</a:t>
            </a:r>
            <a:r>
              <a:rPr lang="en-US" altLang="ko-KR" sz="1600" dirty="0"/>
              <a:t>(x, batch)</a:t>
            </a:r>
            <a:endParaRPr lang="ko-KR" altLang="ko-KR" sz="1600" dirty="0"/>
          </a:p>
          <a:p>
            <a:pPr marL="0" indent="0">
              <a:buNone/>
            </a:pPr>
            <a:br>
              <a:rPr lang="en-US" altLang="ko-KR" sz="1600" dirty="0"/>
            </a:br>
            <a:endParaRPr lang="en-US" altLang="ko-KR" sz="11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10078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E90B5F-E82A-2C87-0AFF-09A4EEA03B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>
            <a:extLst>
              <a:ext uri="{FF2B5EF4-FFF2-40B4-BE49-F238E27FC236}">
                <a16:creationId xmlns:a16="http://schemas.microsoft.com/office/drawing/2014/main" id="{E23FA18F-8C06-E703-4610-410D5DA7AB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55695"/>
          </a:xfrm>
        </p:spPr>
        <p:txBody>
          <a:bodyPr>
            <a:normAutofit/>
          </a:bodyPr>
          <a:lstStyle/>
          <a:p>
            <a:r>
              <a:rPr lang="en-US" altLang="ko-KR" b="1" dirty="0"/>
              <a:t>3. </a:t>
            </a:r>
            <a:r>
              <a:rPr lang="ko-KR" altLang="ko-KR" b="1" dirty="0"/>
              <a:t>강화학습 알고리즘 설계 </a:t>
            </a:r>
            <a:endParaRPr lang="ko-KR" altLang="ko-KR" dirty="0"/>
          </a:p>
        </p:txBody>
      </p:sp>
      <p:sp>
        <p:nvSpPr>
          <p:cNvPr id="2" name="슬라이드 번호 개체 틀 4">
            <a:extLst>
              <a:ext uri="{FF2B5EF4-FFF2-40B4-BE49-F238E27FC236}">
                <a16:creationId xmlns:a16="http://schemas.microsoft.com/office/drawing/2014/main" id="{27BBB615-4328-BCE1-5A6F-936387180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167768A3-AC29-4B30-B97D-8EE275BA7DF4}" type="slidenum">
              <a:rPr lang="ko-KR" altLang="en-US" smtClean="0"/>
              <a:t>13</a:t>
            </a:fld>
            <a:endParaRPr lang="ko-KR" altLang="en-US"/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AB691202-E72A-9258-4395-487A0D97DD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45" y="864973"/>
            <a:ext cx="12103510" cy="5927713"/>
          </a:xfrm>
        </p:spPr>
        <p:txBody>
          <a:bodyPr vert="horz" lIns="91440" tIns="45720" rIns="91440" bIns="45720" rtlCol="0" anchor="t">
            <a:noAutofit/>
          </a:bodyPr>
          <a:lstStyle/>
          <a:p>
            <a:endParaRPr lang="ko-KR" altLang="en-US" sz="1600" dirty="0">
              <a:solidFill>
                <a:schemeClr val="tx1"/>
              </a:solidFill>
            </a:endParaRPr>
          </a:p>
          <a:p>
            <a:endParaRPr lang="ko-KR" altLang="en-US" sz="16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ko-KR" sz="1600" dirty="0">
              <a:solidFill>
                <a:schemeClr val="tx1"/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D4B70D1-6921-4941-63B8-4EF15E0D39BE}"/>
              </a:ext>
            </a:extLst>
          </p:cNvPr>
          <p:cNvSpPr txBox="1">
            <a:spLocks/>
          </p:cNvSpPr>
          <p:nvPr/>
        </p:nvSpPr>
        <p:spPr>
          <a:xfrm>
            <a:off x="2014" y="850651"/>
            <a:ext cx="12103510" cy="592771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1600">
              <a:solidFill>
                <a:schemeClr val="tx1"/>
              </a:solidFill>
            </a:endParaRPr>
          </a:p>
          <a:p>
            <a:endParaRPr lang="ko-KR" altLang="en-US" sz="1600">
              <a:solidFill>
                <a:schemeClr val="tx1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ko-KR" sz="1600" dirty="0">
              <a:solidFill>
                <a:schemeClr val="tx1"/>
              </a:solidFill>
            </a:endParaRP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6826BE06-02CA-F5A0-C6C4-62BD219853EF}"/>
              </a:ext>
            </a:extLst>
          </p:cNvPr>
          <p:cNvSpPr txBox="1">
            <a:spLocks/>
          </p:cNvSpPr>
          <p:nvPr/>
        </p:nvSpPr>
        <p:spPr>
          <a:xfrm>
            <a:off x="86476" y="865891"/>
            <a:ext cx="12103510" cy="592771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800" b="1" dirty="0"/>
              <a:t>(3) Actor / Critic </a:t>
            </a:r>
            <a:r>
              <a:rPr lang="ko-KR" altLang="ko-KR" sz="1800" b="1" dirty="0"/>
              <a:t>헤드</a:t>
            </a:r>
            <a:endParaRPr lang="en-US" altLang="ko-KR" sz="1800" b="1" dirty="0"/>
          </a:p>
          <a:p>
            <a:pPr marL="0" indent="0">
              <a:buNone/>
            </a:pPr>
            <a:r>
              <a:rPr lang="ko-KR" altLang="ko-KR" sz="1800" b="1" dirty="0"/>
              <a:t>하나의</a:t>
            </a:r>
            <a:r>
              <a:rPr lang="en-US" altLang="ko-KR" sz="1800" b="1" dirty="0"/>
              <a:t> GNN</a:t>
            </a:r>
            <a:r>
              <a:rPr lang="ko-KR" altLang="ko-KR" sz="1800" b="1" dirty="0"/>
              <a:t>이 동시에 정책과 가치를 추정</a:t>
            </a:r>
            <a:r>
              <a:rPr lang="ko-KR" altLang="ko-KR" sz="1800" dirty="0"/>
              <a:t>하는 구조이다</a:t>
            </a:r>
            <a:r>
              <a:rPr lang="en-US" altLang="ko-KR" sz="1800" dirty="0"/>
              <a:t>.</a:t>
            </a:r>
            <a:endParaRPr lang="ko-KR" altLang="ko-KR" sz="1800" dirty="0"/>
          </a:p>
          <a:p>
            <a:pPr marL="0" indent="0">
              <a:buNone/>
            </a:pPr>
            <a:endParaRPr lang="ko-KR" altLang="ko-KR" sz="1800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87F84F9B-6B2F-FA7F-7E59-CB0A94BC86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6694" y="2151778"/>
            <a:ext cx="4897145" cy="2151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89791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5E64B2-156C-0ED6-131F-3CA2C75FE9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>
            <a:extLst>
              <a:ext uri="{FF2B5EF4-FFF2-40B4-BE49-F238E27FC236}">
                <a16:creationId xmlns:a16="http://schemas.microsoft.com/office/drawing/2014/main" id="{201F8337-EFFC-A078-AC65-013C865D0B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55695"/>
          </a:xfrm>
        </p:spPr>
        <p:txBody>
          <a:bodyPr>
            <a:normAutofit/>
          </a:bodyPr>
          <a:lstStyle/>
          <a:p>
            <a:r>
              <a:rPr lang="en-US" altLang="ko-KR" b="1" dirty="0"/>
              <a:t>3. </a:t>
            </a:r>
            <a:r>
              <a:rPr lang="ko-KR" altLang="ko-KR" b="1" dirty="0"/>
              <a:t>강화학습 알고리즘 설계 </a:t>
            </a:r>
            <a:endParaRPr lang="ko-KR" altLang="ko-KR" dirty="0"/>
          </a:p>
        </p:txBody>
      </p:sp>
      <p:sp>
        <p:nvSpPr>
          <p:cNvPr id="2" name="슬라이드 번호 개체 틀 4">
            <a:extLst>
              <a:ext uri="{FF2B5EF4-FFF2-40B4-BE49-F238E27FC236}">
                <a16:creationId xmlns:a16="http://schemas.microsoft.com/office/drawing/2014/main" id="{5BE34F53-70E2-9B5F-3285-20FB9671C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167768A3-AC29-4B30-B97D-8EE275BA7DF4}" type="slidenum">
              <a:rPr lang="ko-KR" altLang="en-US" smtClean="0"/>
              <a:t>14</a:t>
            </a:fld>
            <a:endParaRPr lang="ko-KR" altLang="en-US"/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942C96D5-FE7F-EE3F-13D3-57F4F8F045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45" y="864973"/>
            <a:ext cx="12103510" cy="5927713"/>
          </a:xfrm>
        </p:spPr>
        <p:txBody>
          <a:bodyPr vert="horz" lIns="91440" tIns="45720" rIns="91440" bIns="45720" rtlCol="0" anchor="t">
            <a:noAutofit/>
          </a:bodyPr>
          <a:lstStyle/>
          <a:p>
            <a:endParaRPr lang="ko-KR" altLang="en-US" sz="1600" dirty="0">
              <a:solidFill>
                <a:schemeClr val="tx1"/>
              </a:solidFill>
            </a:endParaRPr>
          </a:p>
          <a:p>
            <a:endParaRPr lang="ko-KR" altLang="en-US" sz="16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ko-KR" sz="1600" dirty="0">
              <a:solidFill>
                <a:schemeClr val="tx1"/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7ED5A9-C793-2540-10F3-1D8C17F5CCDE}"/>
              </a:ext>
            </a:extLst>
          </p:cNvPr>
          <p:cNvSpPr txBox="1">
            <a:spLocks/>
          </p:cNvSpPr>
          <p:nvPr/>
        </p:nvSpPr>
        <p:spPr>
          <a:xfrm>
            <a:off x="2014" y="850651"/>
            <a:ext cx="12103510" cy="592771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1600">
              <a:solidFill>
                <a:schemeClr val="tx1"/>
              </a:solidFill>
            </a:endParaRPr>
          </a:p>
          <a:p>
            <a:endParaRPr lang="ko-KR" altLang="en-US" sz="1600">
              <a:solidFill>
                <a:schemeClr val="tx1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ko-KR" sz="1600" dirty="0">
              <a:solidFill>
                <a:schemeClr val="tx1"/>
              </a:solidFill>
            </a:endParaRP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C6EF8894-9322-9740-49B3-0831EB5A1F97}"/>
              </a:ext>
            </a:extLst>
          </p:cNvPr>
          <p:cNvSpPr txBox="1">
            <a:spLocks/>
          </p:cNvSpPr>
          <p:nvPr/>
        </p:nvSpPr>
        <p:spPr>
          <a:xfrm>
            <a:off x="86476" y="865891"/>
            <a:ext cx="12103510" cy="592771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800" b="1" dirty="0"/>
              <a:t>3.2 Rollout </a:t>
            </a:r>
            <a:r>
              <a:rPr lang="ko-KR" altLang="ko-KR" sz="1800" b="1" dirty="0"/>
              <a:t>수집</a:t>
            </a:r>
            <a:r>
              <a:rPr lang="en-US" altLang="ko-KR" sz="1800" b="1" dirty="0"/>
              <a:t> (Trajectory Sampling)</a:t>
            </a:r>
            <a:endParaRPr lang="ko-KR" altLang="ko-KR" sz="1800" dirty="0"/>
          </a:p>
          <a:p>
            <a:pPr marL="0" indent="0">
              <a:buNone/>
            </a:pPr>
            <a:r>
              <a:rPr lang="ko-KR" altLang="ko-KR" sz="1800" dirty="0"/>
              <a:t>에이전트는</a:t>
            </a:r>
            <a:r>
              <a:rPr lang="en-US" altLang="ko-KR" sz="1800" dirty="0"/>
              <a:t> </a:t>
            </a:r>
            <a:r>
              <a:rPr lang="en-US" altLang="ko-KR" sz="1800" dirty="0" err="1"/>
              <a:t>rollout_steps</a:t>
            </a:r>
            <a:r>
              <a:rPr lang="en-US" altLang="ko-KR" sz="1800" dirty="0"/>
              <a:t> </a:t>
            </a:r>
            <a:r>
              <a:rPr lang="ko-KR" altLang="ko-KR" sz="1800" dirty="0"/>
              <a:t>길이만큼 환경을 실행하며</a:t>
            </a:r>
          </a:p>
          <a:p>
            <a:r>
              <a:rPr lang="ko-KR" altLang="ko-KR" sz="1800" dirty="0"/>
              <a:t>관측 그래프</a:t>
            </a:r>
            <a:r>
              <a:rPr lang="en-US" altLang="ko-KR" sz="1800" dirty="0"/>
              <a:t> (</a:t>
            </a:r>
            <a:r>
              <a:rPr lang="en-US" altLang="ko-KR" sz="1800" dirty="0" err="1"/>
              <a:t>obs</a:t>
            </a:r>
            <a:r>
              <a:rPr lang="en-US" altLang="ko-KR" sz="1800" dirty="0"/>
              <a:t>)</a:t>
            </a:r>
            <a:endParaRPr lang="ko-KR" altLang="ko-KR" sz="1800" dirty="0"/>
          </a:p>
          <a:p>
            <a:r>
              <a:rPr lang="ko-KR" altLang="ko-KR" sz="1800" dirty="0"/>
              <a:t>행동</a:t>
            </a:r>
            <a:r>
              <a:rPr lang="en-US" altLang="ko-KR" sz="1800" dirty="0"/>
              <a:t>(action)</a:t>
            </a:r>
            <a:endParaRPr lang="ko-KR" altLang="ko-KR" sz="1800" dirty="0"/>
          </a:p>
          <a:p>
            <a:r>
              <a:rPr lang="en-US" altLang="ko-KR" sz="1800" dirty="0"/>
              <a:t>logπ(</a:t>
            </a:r>
            <a:r>
              <a:rPr lang="en-US" altLang="ko-KR" sz="1800" dirty="0" err="1"/>
              <a:t>a|s</a:t>
            </a:r>
            <a:r>
              <a:rPr lang="en-US" altLang="ko-KR" sz="1800" dirty="0"/>
              <a:t>)</a:t>
            </a:r>
            <a:endParaRPr lang="ko-KR" altLang="ko-KR" sz="1800" dirty="0"/>
          </a:p>
          <a:p>
            <a:r>
              <a:rPr lang="en-US" altLang="ko-KR" sz="1800" dirty="0"/>
              <a:t>reward</a:t>
            </a:r>
            <a:endParaRPr lang="ko-KR" altLang="ko-KR" sz="1800" dirty="0"/>
          </a:p>
          <a:p>
            <a:r>
              <a:rPr lang="en-US" altLang="ko-KR" sz="1800" dirty="0"/>
              <a:t>value estimate</a:t>
            </a:r>
            <a:endParaRPr lang="ko-KR" altLang="ko-KR" sz="1800" dirty="0"/>
          </a:p>
          <a:p>
            <a:r>
              <a:rPr lang="en-US" altLang="ko-KR" sz="1800" dirty="0"/>
              <a:t>done flag</a:t>
            </a:r>
            <a:endParaRPr lang="ko-KR" altLang="ko-KR" sz="1800" dirty="0"/>
          </a:p>
          <a:p>
            <a:pPr marL="0" indent="0">
              <a:buNone/>
            </a:pPr>
            <a:r>
              <a:rPr lang="ko-KR" altLang="ko-KR" sz="1800" dirty="0"/>
              <a:t>을 전부 기록한다</a:t>
            </a:r>
            <a:r>
              <a:rPr lang="en-US" altLang="ko-KR" sz="1800" dirty="0"/>
              <a:t>.</a:t>
            </a:r>
            <a:endParaRPr lang="ko-KR" altLang="ko-KR" sz="1800" dirty="0"/>
          </a:p>
          <a:p>
            <a:pPr marL="0" indent="0">
              <a:buNone/>
            </a:pPr>
            <a:r>
              <a:rPr lang="ko-KR" altLang="ko-KR" sz="1800" dirty="0"/>
              <a:t>이를 통해 전체</a:t>
            </a:r>
            <a:r>
              <a:rPr lang="en-US" altLang="ko-KR" sz="1800" dirty="0"/>
              <a:t> trajectory</a:t>
            </a:r>
            <a:r>
              <a:rPr lang="ko-KR" altLang="ko-KR" sz="1800" dirty="0"/>
              <a:t>에서</a:t>
            </a:r>
            <a:r>
              <a:rPr lang="en-US" altLang="ko-KR" sz="1800" dirty="0"/>
              <a:t> advantage</a:t>
            </a:r>
            <a:r>
              <a:rPr lang="ko-KR" altLang="ko-KR" sz="1800" dirty="0"/>
              <a:t>를 계산하게 된다</a:t>
            </a:r>
            <a:r>
              <a:rPr lang="en-US" altLang="ko-KR" sz="1800" dirty="0"/>
              <a:t>.</a:t>
            </a:r>
            <a:endParaRPr lang="ko-KR" altLang="ko-KR" sz="1800" dirty="0"/>
          </a:p>
          <a:p>
            <a:pPr marL="0" indent="0">
              <a:buNone/>
            </a:pPr>
            <a:br>
              <a:rPr lang="en-US" altLang="ko-KR" sz="1800" dirty="0"/>
            </a:br>
            <a:endParaRPr lang="en-US" altLang="ko-KR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84175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15122D-EA3A-4532-DDC8-4CE638BC6B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>
            <a:extLst>
              <a:ext uri="{FF2B5EF4-FFF2-40B4-BE49-F238E27FC236}">
                <a16:creationId xmlns:a16="http://schemas.microsoft.com/office/drawing/2014/main" id="{168DADD2-3E17-5941-B161-1E363BA9F8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55695"/>
          </a:xfrm>
        </p:spPr>
        <p:txBody>
          <a:bodyPr>
            <a:normAutofit/>
          </a:bodyPr>
          <a:lstStyle/>
          <a:p>
            <a:r>
              <a:rPr lang="en-US" altLang="ko-KR" b="1" dirty="0"/>
              <a:t>3. </a:t>
            </a:r>
            <a:r>
              <a:rPr lang="ko-KR" altLang="ko-KR" b="1" dirty="0"/>
              <a:t>강화학습 알고리즘 설계 </a:t>
            </a:r>
            <a:endParaRPr lang="ko-KR" altLang="ko-KR" dirty="0"/>
          </a:p>
        </p:txBody>
      </p:sp>
      <p:sp>
        <p:nvSpPr>
          <p:cNvPr id="2" name="슬라이드 번호 개체 틀 4">
            <a:extLst>
              <a:ext uri="{FF2B5EF4-FFF2-40B4-BE49-F238E27FC236}">
                <a16:creationId xmlns:a16="http://schemas.microsoft.com/office/drawing/2014/main" id="{5B5B285C-8BDC-351C-3E2E-A374885CC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167768A3-AC29-4B30-B97D-8EE275BA7DF4}" type="slidenum">
              <a:rPr lang="ko-KR" altLang="en-US" smtClean="0"/>
              <a:t>15</a:t>
            </a:fld>
            <a:endParaRPr lang="ko-KR" altLang="en-US"/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037FC379-0387-B557-DBBD-1E9E6F19CD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45" y="864973"/>
            <a:ext cx="12103510" cy="5927713"/>
          </a:xfrm>
        </p:spPr>
        <p:txBody>
          <a:bodyPr vert="horz" lIns="91440" tIns="45720" rIns="91440" bIns="45720" rtlCol="0" anchor="t">
            <a:noAutofit/>
          </a:bodyPr>
          <a:lstStyle/>
          <a:p>
            <a:endParaRPr lang="ko-KR" altLang="en-US" sz="1600" dirty="0">
              <a:solidFill>
                <a:schemeClr val="tx1"/>
              </a:solidFill>
            </a:endParaRPr>
          </a:p>
          <a:p>
            <a:endParaRPr lang="ko-KR" altLang="en-US" sz="16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ko-KR" sz="1600" dirty="0">
              <a:solidFill>
                <a:schemeClr val="tx1"/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3A5FFA0-297A-BF94-A965-87D64D5E460C}"/>
              </a:ext>
            </a:extLst>
          </p:cNvPr>
          <p:cNvSpPr txBox="1">
            <a:spLocks/>
          </p:cNvSpPr>
          <p:nvPr/>
        </p:nvSpPr>
        <p:spPr>
          <a:xfrm>
            <a:off x="2014" y="850651"/>
            <a:ext cx="12103510" cy="592771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1600">
              <a:solidFill>
                <a:schemeClr val="tx1"/>
              </a:solidFill>
            </a:endParaRPr>
          </a:p>
          <a:p>
            <a:endParaRPr lang="ko-KR" altLang="en-US" sz="1600">
              <a:solidFill>
                <a:schemeClr val="tx1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ko-KR" sz="16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내용 개체 틀 2">
                <a:extLst>
                  <a:ext uri="{FF2B5EF4-FFF2-40B4-BE49-F238E27FC236}">
                    <a16:creationId xmlns:a16="http://schemas.microsoft.com/office/drawing/2014/main" id="{89090B34-4AC7-B3AF-AB22-FE9BA181C87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6476" y="865891"/>
                <a:ext cx="12103510" cy="5927713"/>
              </a:xfrm>
              <a:prstGeom prst="rect">
                <a:avLst/>
              </a:prstGeom>
            </p:spPr>
            <p:txBody>
              <a:bodyPr vert="horz" lIns="91440" tIns="45720" rIns="91440" bIns="45720" rtlCol="0" anchor="t">
                <a:noAutofit/>
              </a:bodyPr>
              <a:lstStyle>
                <a:lvl1pPr marL="228600" indent="-228600" algn="l" defTabSz="914400" rtl="0" eaLnBrk="1" latinLnBrk="1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1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1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1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1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altLang="ko-KR" b="1" dirty="0"/>
                  <a:t>3.3 GAE </a:t>
                </a:r>
                <a:r>
                  <a:rPr lang="ko-KR" altLang="ko-KR" b="1" dirty="0"/>
                  <a:t>기반 어드밴티지 계산</a:t>
                </a:r>
                <a:endParaRPr lang="ko-KR" altLang="ko-KR" dirty="0"/>
              </a:p>
              <a:p>
                <a:pPr marL="0" indent="0">
                  <a:buNone/>
                </a:pPr>
                <a:r>
                  <a:rPr lang="en-US" altLang="ko-KR" dirty="0"/>
                  <a:t>Advantage</a:t>
                </a:r>
                <a:r>
                  <a:rPr lang="ko-KR" altLang="ko-KR" dirty="0"/>
                  <a:t>는 다음 형태로 계산한다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ko-KR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ko-KR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ko-KR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ko-KR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𝛾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ko-KR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altLang="ko-KR" i="1">
                          <a:latin typeface="Cambria Math" panose="02040503050406030204" pitchFamily="18" charset="0"/>
                        </a:rPr>
                        <m:t>)−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ko-KR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ko-KR" i="1">
                          <a:latin typeface="Cambria Math" panose="02040503050406030204" pitchFamily="18" charset="0"/>
                        </a:rPr>
                        <m:t>)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ko-KR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ko-KR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ko-KR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ko-KR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𝛾𝜆</m:t>
                      </m:r>
                      <m:sSub>
                        <m:sSubPr>
                          <m:ctrlPr>
                            <a:rPr lang="ko-KR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lang="ko-KR" altLang="ko-KR" dirty="0"/>
              </a:p>
              <a:p>
                <a:pPr marL="0" indent="0">
                  <a:buNone/>
                </a:pPr>
                <a:r>
                  <a:rPr lang="ko-KR" altLang="ko-KR" dirty="0"/>
                  <a:t>이렇게 하면 이론적으로 분산은 감소하며</a:t>
                </a:r>
                <a:r>
                  <a:rPr lang="en-US" altLang="ko-KR" dirty="0"/>
                  <a:t> bias</a:t>
                </a:r>
                <a:r>
                  <a:rPr lang="ko-KR" altLang="ko-KR" dirty="0"/>
                  <a:t>는 제어되기 때문에 사용했다</a:t>
                </a:r>
                <a:r>
                  <a:rPr lang="en-US" altLang="ko-KR" dirty="0"/>
                  <a:t>.</a:t>
                </a:r>
                <a:endParaRPr lang="ko-KR" altLang="ko-KR" dirty="0"/>
              </a:p>
              <a:p>
                <a:pPr marL="0" indent="0">
                  <a:buNone/>
                </a:pPr>
                <a:endParaRPr lang="en-US" altLang="ko-KR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내용 개체 틀 2">
                <a:extLst>
                  <a:ext uri="{FF2B5EF4-FFF2-40B4-BE49-F238E27FC236}">
                    <a16:creationId xmlns:a16="http://schemas.microsoft.com/office/drawing/2014/main" id="{89090B34-4AC7-B3AF-AB22-FE9BA181C8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476" y="865891"/>
                <a:ext cx="12103510" cy="5927713"/>
              </a:xfrm>
              <a:prstGeom prst="rect">
                <a:avLst/>
              </a:prstGeom>
              <a:blipFill>
                <a:blip r:embed="rId3"/>
                <a:stretch>
                  <a:fillRect l="-75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777153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5B0333-1C8C-7F73-5DD4-2AE4F3B976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>
            <a:extLst>
              <a:ext uri="{FF2B5EF4-FFF2-40B4-BE49-F238E27FC236}">
                <a16:creationId xmlns:a16="http://schemas.microsoft.com/office/drawing/2014/main" id="{48E32B66-1DCD-18C0-28A6-6A04F9B19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55695"/>
          </a:xfrm>
        </p:spPr>
        <p:txBody>
          <a:bodyPr>
            <a:normAutofit/>
          </a:bodyPr>
          <a:lstStyle/>
          <a:p>
            <a:r>
              <a:rPr lang="en-US" altLang="ko-KR" b="1" dirty="0"/>
              <a:t>3. </a:t>
            </a:r>
            <a:r>
              <a:rPr lang="ko-KR" altLang="ko-KR" b="1" dirty="0"/>
              <a:t>강화학습 알고리즘 설계 </a:t>
            </a:r>
            <a:endParaRPr lang="ko-KR" altLang="ko-KR" dirty="0"/>
          </a:p>
        </p:txBody>
      </p:sp>
      <p:sp>
        <p:nvSpPr>
          <p:cNvPr id="2" name="슬라이드 번호 개체 틀 4">
            <a:extLst>
              <a:ext uri="{FF2B5EF4-FFF2-40B4-BE49-F238E27FC236}">
                <a16:creationId xmlns:a16="http://schemas.microsoft.com/office/drawing/2014/main" id="{07DA7A59-6A4B-72B6-B065-857908529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167768A3-AC29-4B30-B97D-8EE275BA7DF4}" type="slidenum">
              <a:rPr lang="ko-KR" altLang="en-US" smtClean="0"/>
              <a:t>16</a:t>
            </a:fld>
            <a:endParaRPr lang="ko-KR" altLang="en-US"/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C7F66F1B-5AF4-7E29-3581-CD0778A50E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45" y="864973"/>
            <a:ext cx="12103510" cy="5927713"/>
          </a:xfrm>
        </p:spPr>
        <p:txBody>
          <a:bodyPr vert="horz" lIns="91440" tIns="45720" rIns="91440" bIns="45720" rtlCol="0" anchor="t">
            <a:noAutofit/>
          </a:bodyPr>
          <a:lstStyle/>
          <a:p>
            <a:endParaRPr lang="ko-KR" altLang="en-US" sz="1600" dirty="0">
              <a:solidFill>
                <a:schemeClr val="tx1"/>
              </a:solidFill>
            </a:endParaRPr>
          </a:p>
          <a:p>
            <a:endParaRPr lang="ko-KR" altLang="en-US" sz="16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ko-KR" sz="1600" dirty="0">
              <a:solidFill>
                <a:schemeClr val="tx1"/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010DE66-35DF-C309-8DDD-18B6FEA8F4CF}"/>
              </a:ext>
            </a:extLst>
          </p:cNvPr>
          <p:cNvSpPr txBox="1">
            <a:spLocks/>
          </p:cNvSpPr>
          <p:nvPr/>
        </p:nvSpPr>
        <p:spPr>
          <a:xfrm>
            <a:off x="2014" y="850651"/>
            <a:ext cx="12103510" cy="592771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1600">
              <a:solidFill>
                <a:schemeClr val="tx1"/>
              </a:solidFill>
            </a:endParaRPr>
          </a:p>
          <a:p>
            <a:endParaRPr lang="ko-KR" altLang="en-US" sz="1600">
              <a:solidFill>
                <a:schemeClr val="tx1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ko-KR" sz="16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내용 개체 틀 2">
                <a:extLst>
                  <a:ext uri="{FF2B5EF4-FFF2-40B4-BE49-F238E27FC236}">
                    <a16:creationId xmlns:a16="http://schemas.microsoft.com/office/drawing/2014/main" id="{F9DA1FE4-5A5A-2320-503A-A4E57C20DA0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6476" y="865891"/>
                <a:ext cx="12103510" cy="5927713"/>
              </a:xfrm>
              <a:prstGeom prst="rect">
                <a:avLst/>
              </a:prstGeom>
            </p:spPr>
            <p:txBody>
              <a:bodyPr vert="horz" lIns="91440" tIns="45720" rIns="91440" bIns="45720" rtlCol="0" anchor="t">
                <a:noAutofit/>
              </a:bodyPr>
              <a:lstStyle>
                <a:lvl1pPr marL="228600" indent="-228600" algn="l" defTabSz="914400" rtl="0" eaLnBrk="1" latinLnBrk="1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1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1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1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1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altLang="ko-KR" sz="1800" b="1" dirty="0"/>
                  <a:t>3.4 PPO </a:t>
                </a:r>
                <a:r>
                  <a:rPr lang="ko-KR" altLang="ko-KR" sz="1800" b="1" dirty="0"/>
                  <a:t>업데이트 </a:t>
                </a:r>
                <a:endParaRPr lang="ko-KR" altLang="ko-KR" sz="1800" dirty="0"/>
              </a:p>
              <a:p>
                <a:pPr marL="0" indent="0">
                  <a:buNone/>
                </a:pPr>
                <a:r>
                  <a:rPr lang="ko-KR" altLang="ko-KR" sz="1800" dirty="0"/>
                  <a:t>핵심 수식은 아래와 같다</a:t>
                </a:r>
              </a:p>
              <a:p>
                <a:pPr marL="0" indent="0">
                  <a:buNone/>
                </a:pPr>
                <a:r>
                  <a:rPr lang="ko-KR" altLang="ko-KR" sz="1800" b="1" dirty="0"/>
                  <a:t>목적함수</a:t>
                </a:r>
                <a:endParaRPr lang="ko-KR" altLang="ko-KR" sz="1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ko-KR" altLang="ko-KR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0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ko-KR" sz="1800" i="1">
                              <a:latin typeface="Cambria Math" panose="02040503050406030204" pitchFamily="18" charset="0"/>
                            </a:rPr>
                            <m:t>𝑝𝑝𝑜</m:t>
                          </m:r>
                        </m:sub>
                      </m:sSub>
                      <m:r>
                        <a:rPr lang="en-US" altLang="ko-KR" sz="1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ko-KR" sz="1800">
                          <a:latin typeface="Cambria Math" panose="02040503050406030204" pitchFamily="18" charset="0"/>
                        </a:rPr>
                        <m:t>min</m:t>
                      </m:r>
                      <m:r>
                        <a:rPr lang="en-US" altLang="ko-KR" sz="1800">
                          <a:latin typeface="Cambria Math" panose="02040503050406030204" pitchFamily="18" charset="0"/>
                        </a:rPr>
                        <m:t>⁡</m:t>
                      </m:r>
                      <m:r>
                        <a:rPr lang="en-US" altLang="ko-KR" sz="180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ko-KR" altLang="ko-KR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ko-KR" sz="18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sSub>
                        <m:sSubPr>
                          <m:ctrlPr>
                            <a:rPr lang="ko-KR" altLang="ko-KR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ko-KR" sz="18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ko-KR" sz="1800" i="1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ko-KR" sz="1800" i="1">
                          <a:latin typeface="Cambria Math" panose="02040503050406030204" pitchFamily="18" charset="0"/>
                        </a:rPr>
                        <m:t>𝑐𝑙𝑖𝑝</m:t>
                      </m:r>
                      <m:d>
                        <m:dPr>
                          <m:ctrlPr>
                            <a:rPr lang="ko-KR" altLang="ko-KR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ko-KR" altLang="ko-KR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altLang="ko-KR" sz="18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altLang="ko-KR" sz="1800" i="1">
                              <a:latin typeface="Cambria Math" panose="02040503050406030204" pitchFamily="18" charset="0"/>
                            </a:rPr>
                            <m:t>,1−</m:t>
                          </m:r>
                          <m:r>
                            <a:rPr lang="en-US" altLang="ko-KR" sz="1800" i="1">
                              <a:latin typeface="Cambria Math" panose="02040503050406030204" pitchFamily="18" charset="0"/>
                            </a:rPr>
                            <m:t>𝜖</m:t>
                          </m:r>
                          <m:r>
                            <a:rPr lang="en-US" altLang="ko-KR" sz="1800" i="1">
                              <a:latin typeface="Cambria Math" panose="02040503050406030204" pitchFamily="18" charset="0"/>
                            </a:rPr>
                            <m:t>,1+</m:t>
                          </m:r>
                          <m:r>
                            <a:rPr lang="en-US" altLang="ko-KR" sz="1800" i="1"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</m:d>
                      <m:sSub>
                        <m:sSubPr>
                          <m:ctrlPr>
                            <a:rPr lang="ko-KR" altLang="ko-KR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ko-KR" sz="18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ko-KR" sz="18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ko-KR" sz="1800" dirty="0"/>
              </a:p>
              <a:p>
                <a:pPr marL="0" indent="0">
                  <a:buNone/>
                </a:pPr>
                <a:r>
                  <a:rPr lang="ko-KR" altLang="ko-KR" sz="1800" dirty="0"/>
                  <a:t>여기서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ko-KR" altLang="ko-KR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ko-KR" sz="18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ko-KR" sz="18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ko-KR" altLang="ko-KR" sz="1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ko-KR" altLang="ko-KR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altLang="ko-KR" sz="18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r>
                            <a:rPr lang="en-US" altLang="ko-KR" sz="1800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ko-KR" altLang="ko-KR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ko-KR" sz="18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altLang="ko-KR" sz="1800">
                              <a:latin typeface="Cambria Math" panose="02040503050406030204" pitchFamily="18" charset="0"/>
                            </a:rPr>
                            <m:t>∣</m:t>
                          </m:r>
                          <m:sSub>
                            <m:sSubPr>
                              <m:ctrlPr>
                                <a:rPr lang="ko-KR" altLang="ko-KR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altLang="ko-KR" sz="18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altLang="ko-KR" sz="1800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sSub>
                            <m:sSubPr>
                              <m:ctrlPr>
                                <a:rPr lang="ko-KR" altLang="ko-KR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ko-KR" altLang="ko-KR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8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m:rPr>
                                      <m:nor/>
                                    </m:rPr>
                                    <a:rPr lang="en-US" altLang="ko-KR" sz="1800"/>
                                    <m:t>old</m:t>
                                  </m:r>
                                </m:sub>
                              </m:sSub>
                            </m:sub>
                          </m:sSub>
                          <m:r>
                            <a:rPr lang="en-US" altLang="ko-KR" sz="1800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ko-KR" altLang="ko-KR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ko-KR" sz="18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altLang="ko-KR" sz="1800">
                              <a:latin typeface="Cambria Math" panose="02040503050406030204" pitchFamily="18" charset="0"/>
                            </a:rPr>
                            <m:t>∣</m:t>
                          </m:r>
                          <m:sSub>
                            <m:sSubPr>
                              <m:ctrlPr>
                                <a:rPr lang="ko-KR" altLang="ko-KR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altLang="ko-KR" sz="18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altLang="ko-KR" sz="1800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ko-KR" altLang="ko-KR" sz="1800" dirty="0"/>
              </a:p>
              <a:p>
                <a:pPr marL="0" indent="0">
                  <a:buNone/>
                </a:pPr>
                <a:r>
                  <a:rPr lang="ko-KR" altLang="ko-KR" sz="1800" dirty="0"/>
                  <a:t>수정된</a:t>
                </a:r>
                <a:r>
                  <a:rPr lang="en-US" altLang="ko-KR" sz="1800" dirty="0"/>
                  <a:t> ratio</a:t>
                </a:r>
                <a:r>
                  <a:rPr lang="ko-KR" altLang="ko-KR" sz="1800" dirty="0"/>
                  <a:t>가 너무 크게 변하지 않도록 </a:t>
                </a:r>
                <a:r>
                  <a:rPr lang="en-US" altLang="ko-KR" sz="1800" dirty="0" err="1"/>
                  <a:t>clip_eps</a:t>
                </a:r>
                <a:r>
                  <a:rPr lang="en-US" altLang="ko-KR" sz="1800" dirty="0"/>
                  <a:t> = 0.2 </a:t>
                </a:r>
                <a:r>
                  <a:rPr lang="ko-KR" altLang="ko-KR" sz="1800" dirty="0"/>
                  <a:t>으로 안정성을 확보한다</a:t>
                </a:r>
                <a:r>
                  <a:rPr lang="en-US" altLang="ko-KR" sz="1800" dirty="0"/>
                  <a:t>.</a:t>
                </a:r>
                <a:endParaRPr lang="ko-KR" altLang="ko-KR" sz="1800" dirty="0"/>
              </a:p>
              <a:p>
                <a:pPr marL="0" indent="0">
                  <a:buNone/>
                </a:pPr>
                <a:r>
                  <a:rPr lang="ko-KR" altLang="ko-KR" sz="1800" b="1" dirty="0"/>
                  <a:t>최종</a:t>
                </a:r>
                <a:r>
                  <a:rPr lang="en-US" altLang="ko-KR" sz="1800" b="1" dirty="0"/>
                  <a:t> loss</a:t>
                </a:r>
                <a:endParaRPr lang="ko-KR" altLang="ko-KR" sz="1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800" i="1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altLang="ko-KR" sz="1800" i="1">
                          <a:latin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ko-KR" altLang="ko-KR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0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ko-KR" sz="1800" i="1">
                              <a:latin typeface="Cambria Math" panose="02040503050406030204" pitchFamily="18" charset="0"/>
                            </a:rPr>
                            <m:t>𝑝𝑝𝑜</m:t>
                          </m:r>
                        </m:sub>
                      </m:sSub>
                      <m:r>
                        <a:rPr lang="en-US" altLang="ko-KR" sz="18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ko-KR" altLang="ko-KR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ko-KR" sz="1800" i="1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  <m:r>
                        <a:rPr lang="en-US" altLang="ko-KR" sz="18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ko-KR" sz="1800" i="1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altLang="ko-KR" sz="18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ko-KR" sz="1800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altLang="ko-KR" sz="1800" i="1">
                          <a:latin typeface="Cambria Math" panose="02040503050406030204" pitchFamily="18" charset="0"/>
                        </a:rPr>
                        <m:t>)−</m:t>
                      </m:r>
                      <m:r>
                        <a:rPr lang="en-US" altLang="ko-KR" sz="1800" i="1">
                          <a:latin typeface="Cambria Math" panose="02040503050406030204" pitchFamily="18" charset="0"/>
                        </a:rPr>
                        <m:t>𝑅</m:t>
                      </m:r>
                      <m:sSup>
                        <m:sSupPr>
                          <m:ctrlPr>
                            <a:rPr lang="ko-KR" altLang="ko-KR" sz="1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8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altLang="ko-KR" sz="18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ko-KR" sz="18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ko-KR" altLang="ko-KR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ko-KR" sz="1800" i="1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r>
                        <a:rPr lang="en-US" altLang="ko-KR" sz="1800" i="1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altLang="ko-KR" sz="1800" i="1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ko-KR" sz="1800" i="1"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en-US" altLang="ko-KR" sz="1800" i="1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altLang="ko-KR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내용 개체 틀 2">
                <a:extLst>
                  <a:ext uri="{FF2B5EF4-FFF2-40B4-BE49-F238E27FC236}">
                    <a16:creationId xmlns:a16="http://schemas.microsoft.com/office/drawing/2014/main" id="{F9DA1FE4-5A5A-2320-503A-A4E57C20DA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476" y="865891"/>
                <a:ext cx="12103510" cy="5927713"/>
              </a:xfrm>
              <a:prstGeom prst="rect">
                <a:avLst/>
              </a:prstGeom>
              <a:blipFill>
                <a:blip r:embed="rId3"/>
                <a:stretch>
                  <a:fillRect l="-40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그림 7">
            <a:extLst>
              <a:ext uri="{FF2B5EF4-FFF2-40B4-BE49-F238E27FC236}">
                <a16:creationId xmlns:a16="http://schemas.microsoft.com/office/drawing/2014/main" id="{9149F887-1B88-0CCD-4FC0-EB109E4489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6874" y="2296950"/>
            <a:ext cx="5283726" cy="707507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7C9CDB63-2ABF-D1F1-8DAB-B54B5ABF21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97670" y="3394835"/>
            <a:ext cx="2391149" cy="1111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09007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776F49-8850-B73E-EC72-2758AB7640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>
            <a:extLst>
              <a:ext uri="{FF2B5EF4-FFF2-40B4-BE49-F238E27FC236}">
                <a16:creationId xmlns:a16="http://schemas.microsoft.com/office/drawing/2014/main" id="{10F5784A-3133-5C33-C2C6-2C82FAF99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55695"/>
          </a:xfrm>
        </p:spPr>
        <p:txBody>
          <a:bodyPr>
            <a:normAutofit/>
          </a:bodyPr>
          <a:lstStyle/>
          <a:p>
            <a:r>
              <a:rPr lang="en-US" altLang="ko-KR" b="1" dirty="0"/>
              <a:t>4. </a:t>
            </a:r>
            <a:r>
              <a:rPr lang="ko-KR" altLang="ko-KR" b="1" dirty="0"/>
              <a:t>실험 셋업</a:t>
            </a:r>
            <a:endParaRPr lang="ko-KR" altLang="ko-KR" dirty="0"/>
          </a:p>
        </p:txBody>
      </p:sp>
      <p:sp>
        <p:nvSpPr>
          <p:cNvPr id="2" name="슬라이드 번호 개체 틀 4">
            <a:extLst>
              <a:ext uri="{FF2B5EF4-FFF2-40B4-BE49-F238E27FC236}">
                <a16:creationId xmlns:a16="http://schemas.microsoft.com/office/drawing/2014/main" id="{6027480D-B0AC-1484-BD01-FA4FFAE52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167768A3-AC29-4B30-B97D-8EE275BA7DF4}" type="slidenum">
              <a:rPr lang="ko-KR" altLang="en-US" smtClean="0"/>
              <a:t>17</a:t>
            </a:fld>
            <a:endParaRPr lang="ko-KR" altLang="en-US"/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9B042C63-B011-2050-CB13-A8099D9F60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45" y="864973"/>
            <a:ext cx="12103510" cy="5927713"/>
          </a:xfrm>
        </p:spPr>
        <p:txBody>
          <a:bodyPr vert="horz" lIns="91440" tIns="45720" rIns="91440" bIns="45720" rtlCol="0" anchor="t">
            <a:noAutofit/>
          </a:bodyPr>
          <a:lstStyle/>
          <a:p>
            <a:endParaRPr lang="ko-KR" altLang="en-US" sz="1600" dirty="0">
              <a:solidFill>
                <a:schemeClr val="tx1"/>
              </a:solidFill>
            </a:endParaRPr>
          </a:p>
          <a:p>
            <a:endParaRPr lang="ko-KR" altLang="en-US" sz="16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ko-KR" sz="1600" dirty="0">
              <a:solidFill>
                <a:schemeClr val="tx1"/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03B868E-FBB1-1C7B-B87E-3E0F3D35B5ED}"/>
              </a:ext>
            </a:extLst>
          </p:cNvPr>
          <p:cNvSpPr txBox="1">
            <a:spLocks/>
          </p:cNvSpPr>
          <p:nvPr/>
        </p:nvSpPr>
        <p:spPr>
          <a:xfrm>
            <a:off x="2014" y="850651"/>
            <a:ext cx="12103510" cy="592771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1600">
              <a:solidFill>
                <a:schemeClr val="tx1"/>
              </a:solidFill>
            </a:endParaRPr>
          </a:p>
          <a:p>
            <a:endParaRPr lang="ko-KR" altLang="en-US" sz="1600">
              <a:solidFill>
                <a:schemeClr val="tx1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ko-KR" sz="1600" dirty="0">
              <a:solidFill>
                <a:schemeClr val="tx1"/>
              </a:solidFill>
            </a:endParaRP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D2441268-681C-021C-8A2E-6A2F8CCC7FBC}"/>
              </a:ext>
            </a:extLst>
          </p:cNvPr>
          <p:cNvSpPr txBox="1">
            <a:spLocks/>
          </p:cNvSpPr>
          <p:nvPr/>
        </p:nvSpPr>
        <p:spPr>
          <a:xfrm>
            <a:off x="86476" y="865891"/>
            <a:ext cx="12103510" cy="592771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800" b="1" dirty="0"/>
              <a:t>4.1 </a:t>
            </a:r>
            <a:r>
              <a:rPr lang="ko-KR" altLang="ko-KR" sz="1800" b="1" dirty="0"/>
              <a:t>실험 환경 </a:t>
            </a:r>
            <a:endParaRPr lang="ko-KR" altLang="ko-KR" sz="1800" dirty="0"/>
          </a:p>
          <a:p>
            <a:pPr marL="0" indent="0">
              <a:buNone/>
            </a:pPr>
            <a:r>
              <a:rPr lang="ko-KR" altLang="ko-KR" sz="1800" b="1" dirty="0"/>
              <a:t>퍼즐 데이터셋 구성</a:t>
            </a:r>
            <a:endParaRPr lang="ko-KR" altLang="ko-KR" sz="1800" dirty="0"/>
          </a:p>
          <a:p>
            <a:pPr marL="0" indent="0">
              <a:buNone/>
            </a:pPr>
            <a:r>
              <a:rPr lang="ko-KR" altLang="ko-KR" sz="1800" dirty="0"/>
              <a:t>학습용 퍼즐은 코드 내부에서 자동 생성하며</a:t>
            </a:r>
            <a:r>
              <a:rPr lang="en-US" altLang="ko-KR" sz="1800" dirty="0"/>
              <a:t>, 4×4</a:t>
            </a:r>
            <a:r>
              <a:rPr lang="ko-KR" altLang="ko-KR" sz="1800" dirty="0"/>
              <a:t>와</a:t>
            </a:r>
            <a:r>
              <a:rPr lang="en-US" altLang="ko-KR" sz="1800" dirty="0"/>
              <a:t> 9×9 </a:t>
            </a:r>
            <a:r>
              <a:rPr lang="ko-KR" altLang="ko-KR" sz="1800" dirty="0"/>
              <a:t>각각에 대해 다음 조건으로 실험을 진행하였다</a:t>
            </a:r>
            <a:r>
              <a:rPr lang="en-US" altLang="ko-KR" sz="1800" dirty="0"/>
              <a:t>. (</a:t>
            </a:r>
            <a:r>
              <a:rPr lang="ko-KR" altLang="en-US" sz="1800" dirty="0"/>
              <a:t>나머지 자세한 </a:t>
            </a:r>
            <a:r>
              <a:rPr lang="ko-KR" altLang="en-US" sz="1800" dirty="0" err="1"/>
              <a:t>하이퍼파라미터는</a:t>
            </a:r>
            <a:r>
              <a:rPr lang="ko-KR" altLang="en-US" sz="1800" dirty="0"/>
              <a:t> </a:t>
            </a:r>
            <a:r>
              <a:rPr lang="en-US" altLang="ko-KR" sz="1800" dirty="0"/>
              <a:t>config</a:t>
            </a:r>
            <a:r>
              <a:rPr lang="ko-KR" altLang="en-US" sz="1800" dirty="0"/>
              <a:t>파일이나 </a:t>
            </a:r>
            <a:r>
              <a:rPr lang="en-US" altLang="ko-KR" sz="1800" dirty="0"/>
              <a:t>docs</a:t>
            </a:r>
            <a:r>
              <a:rPr lang="ko-KR" altLang="en-US" sz="1800" dirty="0"/>
              <a:t>보고서를 참고</a:t>
            </a:r>
            <a:r>
              <a:rPr lang="en-US" altLang="ko-KR" sz="1800" dirty="0"/>
              <a:t>)</a:t>
            </a:r>
            <a:endParaRPr lang="ko-KR" altLang="ko-KR" sz="1800" dirty="0"/>
          </a:p>
          <a:p>
            <a:pPr marL="0" indent="0">
              <a:buNone/>
            </a:pPr>
            <a:r>
              <a:rPr lang="en-US" altLang="ko-KR" sz="1800" b="1" dirty="0"/>
              <a:t>4×4 </a:t>
            </a:r>
            <a:r>
              <a:rPr lang="ko-KR" altLang="ko-KR" sz="1800" b="1" dirty="0"/>
              <a:t>실험</a:t>
            </a:r>
            <a:endParaRPr lang="ko-KR" altLang="ko-KR" sz="1800" dirty="0"/>
          </a:p>
          <a:p>
            <a:pPr marL="0" lvl="0" indent="0">
              <a:buNone/>
            </a:pPr>
            <a:r>
              <a:rPr lang="ko-KR" altLang="ko-KR" sz="1800" dirty="0"/>
              <a:t>퍼즐</a:t>
            </a:r>
            <a:r>
              <a:rPr lang="en-US" altLang="ko-KR" sz="1800" dirty="0"/>
              <a:t>–</a:t>
            </a:r>
            <a:r>
              <a:rPr lang="ko-KR" altLang="ko-KR" sz="1800" dirty="0"/>
              <a:t>정답 쌍 수</a:t>
            </a:r>
            <a:r>
              <a:rPr lang="en-US" altLang="ko-KR" sz="1800" dirty="0"/>
              <a:t>: </a:t>
            </a:r>
            <a:r>
              <a:rPr lang="en-US" altLang="ko-KR" sz="1800" b="1" dirty="0"/>
              <a:t>300</a:t>
            </a:r>
            <a:endParaRPr lang="ko-KR" altLang="ko-KR" sz="1800" dirty="0"/>
          </a:p>
          <a:p>
            <a:pPr marL="0" lvl="0" indent="0">
              <a:buNone/>
            </a:pPr>
            <a:r>
              <a:rPr lang="ko-KR" altLang="ko-KR" sz="1800" dirty="0"/>
              <a:t>힌트 수</a:t>
            </a:r>
            <a:r>
              <a:rPr lang="en-US" altLang="ko-KR" sz="1800" dirty="0"/>
              <a:t>: </a:t>
            </a:r>
            <a:r>
              <a:rPr lang="en-US" altLang="ko-KR" sz="1800" b="1" dirty="0"/>
              <a:t>8</a:t>
            </a:r>
            <a:r>
              <a:rPr lang="ko-KR" altLang="ko-KR" sz="1800" b="1" dirty="0"/>
              <a:t>개</a:t>
            </a:r>
            <a:endParaRPr lang="ko-KR" altLang="ko-KR" sz="1800" dirty="0"/>
          </a:p>
          <a:p>
            <a:pPr marL="0" lvl="0" indent="0">
              <a:buNone/>
            </a:pPr>
            <a:r>
              <a:rPr lang="en-US" altLang="ko-KR" sz="1800" dirty="0"/>
              <a:t>base solution</a:t>
            </a:r>
            <a:r>
              <a:rPr lang="ko-KR" altLang="ko-KR" sz="1800" dirty="0"/>
              <a:t>을</a:t>
            </a:r>
            <a:r>
              <a:rPr lang="en-US" altLang="ko-KR" sz="1800" dirty="0"/>
              <a:t> permutation</a:t>
            </a:r>
            <a:r>
              <a:rPr lang="ko-KR" altLang="ko-KR" sz="1800" dirty="0"/>
              <a:t>하여 다양한 정답 생성</a:t>
            </a:r>
          </a:p>
          <a:p>
            <a:pPr marL="0" lvl="0" indent="0">
              <a:buNone/>
            </a:pPr>
            <a:r>
              <a:rPr lang="ko-KR" altLang="ko-KR" sz="1800" dirty="0"/>
              <a:t>옵션</a:t>
            </a:r>
            <a:r>
              <a:rPr lang="en-US" altLang="ko-KR" sz="1800" dirty="0"/>
              <a:t>:</a:t>
            </a:r>
            <a:endParaRPr lang="ko-KR" altLang="ko-KR" sz="1800" dirty="0"/>
          </a:p>
          <a:p>
            <a:pPr marL="457200" lvl="1" indent="0">
              <a:buNone/>
            </a:pPr>
            <a:r>
              <a:rPr lang="en-US" altLang="ko-KR" sz="1600" dirty="0" err="1"/>
              <a:t>single_base</a:t>
            </a:r>
            <a:r>
              <a:rPr lang="en-US" altLang="ko-KR" sz="1600" dirty="0"/>
              <a:t>=False: </a:t>
            </a:r>
            <a:r>
              <a:rPr lang="ko-KR" altLang="ko-KR" sz="1600" dirty="0"/>
              <a:t>다양한</a:t>
            </a:r>
            <a:r>
              <a:rPr lang="en-US" altLang="ko-KR" sz="1600" dirty="0"/>
              <a:t> base </a:t>
            </a:r>
            <a:r>
              <a:rPr lang="ko-KR" altLang="ko-KR" sz="1600" dirty="0"/>
              <a:t>변형 사용</a:t>
            </a:r>
          </a:p>
          <a:p>
            <a:pPr marL="457200" lvl="1" indent="0">
              <a:buNone/>
            </a:pPr>
            <a:r>
              <a:rPr lang="en-US" altLang="ko-KR" sz="1600" dirty="0" err="1"/>
              <a:t>single_puzzle</a:t>
            </a:r>
            <a:r>
              <a:rPr lang="en-US" altLang="ko-KR" sz="1600" dirty="0"/>
              <a:t>=False: </a:t>
            </a:r>
            <a:r>
              <a:rPr lang="ko-KR" altLang="ko-KR" sz="1600" dirty="0"/>
              <a:t>힌트 위치 패턴도 다양하게 생성</a:t>
            </a:r>
          </a:p>
        </p:txBody>
      </p:sp>
    </p:spTree>
    <p:extLst>
      <p:ext uri="{BB962C8B-B14F-4D97-AF65-F5344CB8AC3E}">
        <p14:creationId xmlns:p14="http://schemas.microsoft.com/office/powerpoint/2010/main" val="18271551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0AD88B-3E94-F72B-82F6-C3A758F336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>
            <a:extLst>
              <a:ext uri="{FF2B5EF4-FFF2-40B4-BE49-F238E27FC236}">
                <a16:creationId xmlns:a16="http://schemas.microsoft.com/office/drawing/2014/main" id="{BB0BEA64-D17F-E808-49B8-2DB8C490C7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55695"/>
          </a:xfrm>
        </p:spPr>
        <p:txBody>
          <a:bodyPr>
            <a:normAutofit/>
          </a:bodyPr>
          <a:lstStyle/>
          <a:p>
            <a:r>
              <a:rPr lang="en-US" altLang="ko-KR" b="1" dirty="0"/>
              <a:t>4. </a:t>
            </a:r>
            <a:r>
              <a:rPr lang="ko-KR" altLang="ko-KR" b="1" dirty="0"/>
              <a:t>실험 셋업</a:t>
            </a:r>
            <a:endParaRPr lang="ko-KR" altLang="ko-KR" dirty="0"/>
          </a:p>
        </p:txBody>
      </p:sp>
      <p:sp>
        <p:nvSpPr>
          <p:cNvPr id="2" name="슬라이드 번호 개체 틀 4">
            <a:extLst>
              <a:ext uri="{FF2B5EF4-FFF2-40B4-BE49-F238E27FC236}">
                <a16:creationId xmlns:a16="http://schemas.microsoft.com/office/drawing/2014/main" id="{0FDFB297-1B11-BDF7-40D1-ED6265F3C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167768A3-AC29-4B30-B97D-8EE275BA7DF4}" type="slidenum">
              <a:rPr lang="ko-KR" altLang="en-US" smtClean="0"/>
              <a:t>18</a:t>
            </a:fld>
            <a:endParaRPr lang="ko-KR" altLang="en-US"/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6F624496-6525-861B-0D90-3EC21D112D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45" y="864973"/>
            <a:ext cx="12103510" cy="5927713"/>
          </a:xfrm>
        </p:spPr>
        <p:txBody>
          <a:bodyPr vert="horz" lIns="91440" tIns="45720" rIns="91440" bIns="45720" rtlCol="0" anchor="t">
            <a:noAutofit/>
          </a:bodyPr>
          <a:lstStyle/>
          <a:p>
            <a:endParaRPr lang="ko-KR" altLang="en-US" sz="1600" dirty="0">
              <a:solidFill>
                <a:schemeClr val="tx1"/>
              </a:solidFill>
            </a:endParaRPr>
          </a:p>
          <a:p>
            <a:endParaRPr lang="ko-KR" altLang="en-US" sz="16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ko-KR" sz="1600" dirty="0">
              <a:solidFill>
                <a:schemeClr val="tx1"/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C092A01-E79A-1722-7472-D24B54BE1183}"/>
              </a:ext>
            </a:extLst>
          </p:cNvPr>
          <p:cNvSpPr txBox="1">
            <a:spLocks/>
          </p:cNvSpPr>
          <p:nvPr/>
        </p:nvSpPr>
        <p:spPr>
          <a:xfrm>
            <a:off x="2014" y="850651"/>
            <a:ext cx="12103510" cy="592771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1600">
              <a:solidFill>
                <a:schemeClr val="tx1"/>
              </a:solidFill>
            </a:endParaRPr>
          </a:p>
          <a:p>
            <a:endParaRPr lang="ko-KR" altLang="en-US" sz="1600">
              <a:solidFill>
                <a:schemeClr val="tx1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ko-KR" sz="16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내용 개체 틀 2">
                <a:extLst>
                  <a:ext uri="{FF2B5EF4-FFF2-40B4-BE49-F238E27FC236}">
                    <a16:creationId xmlns:a16="http://schemas.microsoft.com/office/drawing/2014/main" id="{EE08B92B-3CBD-CA35-8657-341633CEFB4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6476" y="865891"/>
                <a:ext cx="12103510" cy="5927713"/>
              </a:xfrm>
              <a:prstGeom prst="rect">
                <a:avLst/>
              </a:prstGeom>
            </p:spPr>
            <p:txBody>
              <a:bodyPr vert="horz" lIns="91440" tIns="45720" rIns="91440" bIns="45720" rtlCol="0" anchor="t">
                <a:noAutofit/>
              </a:bodyPr>
              <a:lstStyle>
                <a:lvl1pPr marL="228600" indent="-228600" algn="l" defTabSz="914400" rtl="0" eaLnBrk="1" latinLnBrk="1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1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1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1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1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altLang="ko-KR" sz="1800" b="1" dirty="0"/>
                  <a:t>4.2 </a:t>
                </a:r>
                <a:r>
                  <a:rPr lang="ko-KR" altLang="ko-KR" sz="1800" b="1" dirty="0"/>
                  <a:t>모델 평가 방식 </a:t>
                </a:r>
                <a:endParaRPr lang="ko-KR" altLang="ko-KR" sz="1800" dirty="0"/>
              </a:p>
              <a:p>
                <a:pPr marL="0" indent="0">
                  <a:buNone/>
                </a:pPr>
                <a:r>
                  <a:rPr lang="ko-KR" altLang="ko-KR" sz="1800" dirty="0"/>
                  <a:t>세 가지 </a:t>
                </a:r>
                <a:r>
                  <a:rPr lang="ko-KR" altLang="ko-KR" sz="1800" dirty="0" err="1"/>
                  <a:t>메트릭을</a:t>
                </a:r>
                <a:r>
                  <a:rPr lang="ko-KR" altLang="ko-KR" sz="1800" dirty="0"/>
                  <a:t> 사용하였다</a:t>
                </a:r>
                <a:r>
                  <a:rPr lang="en-US" altLang="ko-KR" sz="1800" dirty="0"/>
                  <a:t>.</a:t>
                </a:r>
                <a:endParaRPr lang="ko-KR" altLang="ko-KR" sz="1800" dirty="0"/>
              </a:p>
              <a:p>
                <a:pPr marL="0" indent="0">
                  <a:buNone/>
                </a:pPr>
                <a:r>
                  <a:rPr lang="en-US" altLang="ko-KR" sz="1800" b="1" dirty="0"/>
                  <a:t>(1) Episode Return (</a:t>
                </a:r>
                <a:r>
                  <a:rPr lang="ko-KR" altLang="ko-KR" sz="1800" b="1" dirty="0"/>
                  <a:t>총 보상</a:t>
                </a:r>
                <a:r>
                  <a:rPr lang="en-US" altLang="ko-KR" sz="1800" b="1" dirty="0"/>
                  <a:t>)</a:t>
                </a:r>
                <a:endParaRPr lang="ko-KR" altLang="ko-KR" sz="1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800" i="1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US" altLang="ko-KR" sz="18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grow m:val="on"/>
                          <m:ctrlPr>
                            <a:rPr lang="ko-KR" altLang="ko-KR" sz="1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ko-KR" sz="18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ko-KR" sz="1800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altLang="ko-KR" sz="18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  <m:e>
                          <m:sSub>
                            <m:sSubPr>
                              <m:ctrlPr>
                                <a:rPr lang="ko-KR" altLang="ko-KR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altLang="ko-KR" sz="18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ko-KR" altLang="ko-KR" sz="1800" dirty="0"/>
              </a:p>
              <a:p>
                <a:pPr marL="0" lvl="0" indent="0">
                  <a:buNone/>
                </a:pPr>
                <a:r>
                  <a:rPr lang="ko-KR" altLang="ko-KR" sz="1800" dirty="0"/>
                  <a:t>정책이 보드를 얼마나 안정적으로</a:t>
                </a:r>
                <a:r>
                  <a:rPr lang="en-US" altLang="ko-KR" sz="1800" dirty="0"/>
                  <a:t>, </a:t>
                </a:r>
                <a:r>
                  <a:rPr lang="ko-KR" altLang="ko-KR" sz="1800" dirty="0"/>
                  <a:t>규칙을 지키며 채우는지 반영</a:t>
                </a:r>
              </a:p>
              <a:p>
                <a:pPr marL="0" lvl="0" indent="0">
                  <a:buNone/>
                </a:pPr>
                <a:r>
                  <a:rPr lang="en-US" altLang="ko-KR" sz="1800" dirty="0"/>
                  <a:t>reward shaping </a:t>
                </a:r>
                <a:r>
                  <a:rPr lang="ko-KR" altLang="ko-KR" sz="1800" dirty="0"/>
                  <a:t>구조 때문에 </a:t>
                </a:r>
                <a:r>
                  <a:rPr lang="ko-KR" altLang="ko-KR" sz="1800" b="1" dirty="0"/>
                  <a:t>올바른 행동 중심의 지표</a:t>
                </a:r>
                <a:endParaRPr lang="ko-KR" altLang="ko-KR" sz="1800" dirty="0"/>
              </a:p>
              <a:p>
                <a:pPr marL="0" lvl="0" indent="0">
                  <a:buNone/>
                </a:pPr>
                <a:r>
                  <a:rPr lang="ko-KR" altLang="ko-KR" sz="1800" dirty="0"/>
                  <a:t>에피소드가 규칙 위반으로 일찍 종료되면</a:t>
                </a:r>
                <a:r>
                  <a:rPr lang="en-US" altLang="ko-KR" sz="1800" dirty="0"/>
                  <a:t> return</a:t>
                </a:r>
                <a:r>
                  <a:rPr lang="ko-KR" altLang="ko-KR" sz="1800" dirty="0"/>
                  <a:t>이 매우 낮게 나타남</a:t>
                </a:r>
              </a:p>
              <a:p>
                <a:pPr marL="0" indent="0">
                  <a:buNone/>
                </a:pPr>
                <a:r>
                  <a:rPr lang="ko-KR" altLang="ko-KR" sz="1800" dirty="0"/>
                  <a:t>학습 곡선에서 </a:t>
                </a:r>
                <a:r>
                  <a:rPr lang="ko-KR" altLang="ko-KR" sz="1800" b="1" dirty="0"/>
                  <a:t>정책 품질의 간접 지표</a:t>
                </a:r>
                <a:r>
                  <a:rPr lang="ko-KR" altLang="ko-KR" sz="1800" dirty="0"/>
                  <a:t>로 사용한다</a:t>
                </a:r>
                <a:r>
                  <a:rPr lang="en-US" altLang="ko-KR" sz="1800" dirty="0"/>
                  <a:t>.</a:t>
                </a:r>
                <a:endParaRPr lang="ko-KR" altLang="ko-KR" sz="1800" dirty="0"/>
              </a:p>
            </p:txBody>
          </p:sp>
        </mc:Choice>
        <mc:Fallback xmlns="">
          <p:sp>
            <p:nvSpPr>
              <p:cNvPr id="6" name="내용 개체 틀 2">
                <a:extLst>
                  <a:ext uri="{FF2B5EF4-FFF2-40B4-BE49-F238E27FC236}">
                    <a16:creationId xmlns:a16="http://schemas.microsoft.com/office/drawing/2014/main" id="{EE08B92B-3CBD-CA35-8657-341633CEFB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476" y="865891"/>
                <a:ext cx="12103510" cy="5927713"/>
              </a:xfrm>
              <a:prstGeom prst="rect">
                <a:avLst/>
              </a:prstGeom>
              <a:blipFill>
                <a:blip r:embed="rId3"/>
                <a:stretch>
                  <a:fillRect l="-40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153250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499BAA-ABF3-2CC7-4689-832830582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>
            <a:extLst>
              <a:ext uri="{FF2B5EF4-FFF2-40B4-BE49-F238E27FC236}">
                <a16:creationId xmlns:a16="http://schemas.microsoft.com/office/drawing/2014/main" id="{166D340F-E9AC-A3AF-4BBF-92DA857A8F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55695"/>
          </a:xfrm>
        </p:spPr>
        <p:txBody>
          <a:bodyPr>
            <a:normAutofit/>
          </a:bodyPr>
          <a:lstStyle/>
          <a:p>
            <a:r>
              <a:rPr lang="en-US" altLang="ko-KR" b="1" dirty="0"/>
              <a:t>4. </a:t>
            </a:r>
            <a:r>
              <a:rPr lang="ko-KR" altLang="ko-KR" b="1" dirty="0"/>
              <a:t>실험 셋업</a:t>
            </a:r>
            <a:endParaRPr lang="ko-KR" altLang="ko-KR" dirty="0"/>
          </a:p>
        </p:txBody>
      </p:sp>
      <p:sp>
        <p:nvSpPr>
          <p:cNvPr id="2" name="슬라이드 번호 개체 틀 4">
            <a:extLst>
              <a:ext uri="{FF2B5EF4-FFF2-40B4-BE49-F238E27FC236}">
                <a16:creationId xmlns:a16="http://schemas.microsoft.com/office/drawing/2014/main" id="{93953EAE-301B-DF65-7DD5-A32F168C3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167768A3-AC29-4B30-B97D-8EE275BA7DF4}" type="slidenum">
              <a:rPr lang="ko-KR" altLang="en-US" smtClean="0"/>
              <a:t>19</a:t>
            </a:fld>
            <a:endParaRPr lang="ko-KR" altLang="en-US"/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6700618D-3E7C-0BF3-C4E9-8270588C28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45" y="864973"/>
            <a:ext cx="12103510" cy="5927713"/>
          </a:xfrm>
        </p:spPr>
        <p:txBody>
          <a:bodyPr vert="horz" lIns="91440" tIns="45720" rIns="91440" bIns="45720" rtlCol="0" anchor="t">
            <a:noAutofit/>
          </a:bodyPr>
          <a:lstStyle/>
          <a:p>
            <a:endParaRPr lang="ko-KR" altLang="en-US" sz="1600" dirty="0">
              <a:solidFill>
                <a:schemeClr val="tx1"/>
              </a:solidFill>
            </a:endParaRPr>
          </a:p>
          <a:p>
            <a:endParaRPr lang="ko-KR" altLang="en-US" sz="16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ko-KR" sz="1600" dirty="0">
              <a:solidFill>
                <a:schemeClr val="tx1"/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C840AA-75BD-E7B1-A86F-BA3D419AEA7A}"/>
              </a:ext>
            </a:extLst>
          </p:cNvPr>
          <p:cNvSpPr txBox="1">
            <a:spLocks/>
          </p:cNvSpPr>
          <p:nvPr/>
        </p:nvSpPr>
        <p:spPr>
          <a:xfrm>
            <a:off x="2014" y="850651"/>
            <a:ext cx="12103510" cy="592771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1600">
              <a:solidFill>
                <a:schemeClr val="tx1"/>
              </a:solidFill>
            </a:endParaRPr>
          </a:p>
          <a:p>
            <a:endParaRPr lang="ko-KR" altLang="en-US" sz="1600">
              <a:solidFill>
                <a:schemeClr val="tx1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ko-KR" sz="16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내용 개체 틀 2">
                <a:extLst>
                  <a:ext uri="{FF2B5EF4-FFF2-40B4-BE49-F238E27FC236}">
                    <a16:creationId xmlns:a16="http://schemas.microsoft.com/office/drawing/2014/main" id="{A5C7176A-1E97-149C-E171-CD20A95C597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6476" y="865891"/>
                <a:ext cx="12103510" cy="5927713"/>
              </a:xfrm>
              <a:prstGeom prst="rect">
                <a:avLst/>
              </a:prstGeom>
            </p:spPr>
            <p:txBody>
              <a:bodyPr vert="horz" lIns="91440" tIns="45720" rIns="91440" bIns="45720" rtlCol="0" anchor="t">
                <a:noAutofit/>
              </a:bodyPr>
              <a:lstStyle>
                <a:lvl1pPr marL="228600" indent="-228600" algn="l" defTabSz="914400" rtl="0" eaLnBrk="1" latinLnBrk="1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1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1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1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1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altLang="ko-KR" sz="1800" b="1" dirty="0"/>
                  <a:t>(2) Completion Rate </a:t>
                </a:r>
                <a:endParaRPr lang="ko-KR" altLang="ko-KR" sz="1800" dirty="0"/>
              </a:p>
              <a:p>
                <a:pPr marL="0" indent="0">
                  <a:buNone/>
                </a:pPr>
                <a:r>
                  <a:rPr lang="ko-KR" altLang="ko-KR" sz="1800" dirty="0"/>
                  <a:t>하나의 에피소드에서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ko-KR" sz="1800"/>
                        <m:t>Complete</m:t>
                      </m:r>
                      <m:r>
                        <a:rPr lang="en-US" altLang="ko-KR" sz="1800" i="1">
                          <a:latin typeface="Cambria Math" panose="02040503050406030204" pitchFamily="18" charset="0"/>
                        </a:rPr>
                        <m:t>={</m:t>
                      </m:r>
                      <m:m>
                        <m:mPr>
                          <m:plcHide m:val="on"/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ko-KR" altLang="ko-KR" sz="1800" i="1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a:rPr lang="en-US" altLang="ko-KR" sz="1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e>
                            <m:r>
                              <a:rPr lang="ko-KR" altLang="ko-KR" sz="1800">
                                <a:latin typeface="Cambria Math" panose="02040503050406030204" pitchFamily="18" charset="0"/>
                              </a:rPr>
                              <m:t>모든</m:t>
                            </m:r>
                            <m:r>
                              <a:rPr lang="ko-KR" altLang="ko-KR" sz="180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ko-KR" altLang="ko-KR" sz="1800">
                                <a:latin typeface="Cambria Math" panose="02040503050406030204" pitchFamily="18" charset="0"/>
                              </a:rPr>
                              <m:t>칸이</m:t>
                            </m:r>
                            <m:r>
                              <a:rPr lang="ko-KR" altLang="ko-KR" sz="180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ko-KR" altLang="ko-KR" sz="1800">
                                <a:latin typeface="Cambria Math" panose="02040503050406030204" pitchFamily="18" charset="0"/>
                              </a:rPr>
                              <m:t>채워진</m:t>
                            </m:r>
                            <m:r>
                              <a:rPr lang="ko-KR" altLang="ko-KR" sz="180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ko-KR" altLang="ko-KR" sz="1800">
                                <a:latin typeface="Cambria Math" panose="02040503050406030204" pitchFamily="18" charset="0"/>
                              </a:rPr>
                              <m:t>경우</m:t>
                            </m:r>
                          </m:e>
                        </m:mr>
                        <m:mr>
                          <m:e>
                            <m:r>
                              <a:rPr lang="en-US" altLang="ko-KR" sz="18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ko-KR" altLang="ko-KR" sz="1800">
                                <a:latin typeface="Cambria Math" panose="02040503050406030204" pitchFamily="18" charset="0"/>
                              </a:rPr>
                              <m:t>그</m:t>
                            </m:r>
                            <m:r>
                              <a:rPr lang="ko-KR" altLang="ko-KR" sz="180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ko-KR" altLang="ko-KR" sz="1800">
                                <a:latin typeface="Cambria Math" panose="02040503050406030204" pitchFamily="18" charset="0"/>
                              </a:rPr>
                              <m:t>외</m:t>
                            </m:r>
                          </m:e>
                        </m:mr>
                      </m:m>
                    </m:oMath>
                  </m:oMathPara>
                </a14:m>
                <a:endParaRPr lang="ko-KR" altLang="ko-KR" sz="1800" dirty="0"/>
              </a:p>
              <a:p>
                <a:pPr marL="0" indent="0">
                  <a:buNone/>
                </a:pPr>
                <a:r>
                  <a:rPr lang="ko-KR" altLang="ko-KR" sz="1800" dirty="0" err="1"/>
                  <a:t>완성률은</a:t>
                </a:r>
                <a:r>
                  <a:rPr lang="ko-KR" altLang="ko-KR" sz="1800" dirty="0"/>
                  <a:t> 최근</a:t>
                </a:r>
                <a:r>
                  <a:rPr lang="en-US" altLang="ko-KR" sz="1800" dirty="0"/>
                  <a:t> 10</a:t>
                </a:r>
                <a:r>
                  <a:rPr lang="ko-KR" altLang="ko-KR" sz="1800" dirty="0"/>
                  <a:t>개 에피소드 평균으로 기록하여 업데이트별 곡선을 생성한다</a:t>
                </a:r>
                <a:r>
                  <a:rPr lang="en-US" altLang="ko-KR" sz="1800" dirty="0"/>
                  <a:t>.</a:t>
                </a:r>
                <a:endParaRPr lang="ko-KR" altLang="ko-KR" sz="1800" dirty="0"/>
              </a:p>
              <a:p>
                <a:pPr marL="0" indent="0">
                  <a:buNone/>
                </a:pPr>
                <a:r>
                  <a:rPr lang="ko-KR" altLang="ko-KR" sz="1800" dirty="0"/>
                  <a:t>이 지표는 다음과 같은 의미를 갖는다</a:t>
                </a:r>
                <a:r>
                  <a:rPr lang="en-US" altLang="ko-KR" sz="1800" dirty="0"/>
                  <a:t>.</a:t>
                </a:r>
                <a:endParaRPr lang="ko-KR" altLang="ko-KR" sz="1800" dirty="0"/>
              </a:p>
              <a:p>
                <a:pPr marL="0" lvl="0" indent="0">
                  <a:buNone/>
                </a:pPr>
                <a:r>
                  <a:rPr lang="ko-KR" altLang="ko-KR" sz="1800" dirty="0"/>
                  <a:t>에이전트가 </a:t>
                </a:r>
                <a:r>
                  <a:rPr lang="ko-KR" altLang="ko-KR" sz="1800" b="1" dirty="0"/>
                  <a:t>규칙을 거의 위반하지 않고</a:t>
                </a:r>
                <a:r>
                  <a:rPr lang="en-US" altLang="ko-KR" sz="1800" dirty="0"/>
                  <a:t>,</a:t>
                </a:r>
                <a:endParaRPr lang="ko-KR" altLang="ko-KR" sz="1800" dirty="0"/>
              </a:p>
              <a:p>
                <a:pPr marL="0" lvl="0" indent="0">
                  <a:buNone/>
                </a:pPr>
                <a:r>
                  <a:rPr lang="ko-KR" altLang="ko-KR" sz="1800" b="1" dirty="0"/>
                  <a:t>보드를 끝까지 채울 수 있는가</a:t>
                </a:r>
                <a:endParaRPr lang="ko-KR" altLang="ko-KR" sz="1800" dirty="0"/>
              </a:p>
              <a:p>
                <a:pPr marL="0" lvl="0" indent="0">
                  <a:buNone/>
                </a:pPr>
                <a:r>
                  <a:rPr lang="ko-KR" altLang="ko-KR" sz="1800" dirty="0"/>
                  <a:t>다만</a:t>
                </a:r>
                <a:r>
                  <a:rPr lang="en-US" altLang="ko-KR" sz="1800" dirty="0"/>
                  <a:t> “</a:t>
                </a:r>
                <a:r>
                  <a:rPr lang="ko-KR" altLang="ko-KR" sz="1800" dirty="0"/>
                  <a:t>완성</a:t>
                </a:r>
                <a:r>
                  <a:rPr lang="en-US" altLang="ko-KR" sz="1800" dirty="0"/>
                  <a:t>”</a:t>
                </a:r>
                <a:r>
                  <a:rPr lang="ko-KR" altLang="ko-KR" sz="1800" dirty="0"/>
                  <a:t>이</a:t>
                </a:r>
                <a:r>
                  <a:rPr lang="en-US" altLang="ko-KR" sz="1800" dirty="0"/>
                  <a:t> “</a:t>
                </a:r>
                <a:r>
                  <a:rPr lang="ko-KR" altLang="ko-KR" sz="1800" dirty="0"/>
                  <a:t>정답과 동일함</a:t>
                </a:r>
                <a:r>
                  <a:rPr lang="en-US" altLang="ko-KR" sz="1800" dirty="0"/>
                  <a:t>”</a:t>
                </a:r>
                <a:r>
                  <a:rPr lang="ko-KR" altLang="ko-KR" sz="1800" dirty="0"/>
                  <a:t>을 의미하지는 않음</a:t>
                </a:r>
                <a:br>
                  <a:rPr lang="en-US" altLang="ko-KR" sz="1800" dirty="0"/>
                </a:br>
                <a:r>
                  <a:rPr lang="en-US" altLang="ko-KR" sz="1800" dirty="0"/>
                  <a:t>(</a:t>
                </a:r>
                <a:r>
                  <a:rPr lang="ko-KR" altLang="ko-KR" sz="1800" dirty="0"/>
                  <a:t>정답 여부는</a:t>
                </a:r>
                <a:r>
                  <a:rPr lang="en-US" altLang="ko-KR" sz="1800" dirty="0"/>
                  <a:t> quality metric</a:t>
                </a:r>
                <a:r>
                  <a:rPr lang="ko-KR" altLang="ko-KR" sz="1800" dirty="0"/>
                  <a:t>에서 측정</a:t>
                </a:r>
                <a:r>
                  <a:rPr lang="en-US" altLang="ko-KR" sz="1800" dirty="0"/>
                  <a:t>)</a:t>
                </a:r>
                <a:endParaRPr lang="ko-KR" altLang="ko-KR" sz="1800" dirty="0"/>
              </a:p>
            </p:txBody>
          </p:sp>
        </mc:Choice>
        <mc:Fallback xmlns="">
          <p:sp>
            <p:nvSpPr>
              <p:cNvPr id="6" name="내용 개체 틀 2">
                <a:extLst>
                  <a:ext uri="{FF2B5EF4-FFF2-40B4-BE49-F238E27FC236}">
                    <a16:creationId xmlns:a16="http://schemas.microsoft.com/office/drawing/2014/main" id="{A5C7176A-1E97-149C-E171-CD20A95C59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476" y="865891"/>
                <a:ext cx="12103510" cy="5927713"/>
              </a:xfrm>
              <a:prstGeom prst="rect">
                <a:avLst/>
              </a:prstGeom>
              <a:blipFill>
                <a:blip r:embed="rId3"/>
                <a:stretch>
                  <a:fillRect l="-40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635858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FF6E57-304F-6AC8-2FD2-927050CC8B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>
            <a:extLst>
              <a:ext uri="{FF2B5EF4-FFF2-40B4-BE49-F238E27FC236}">
                <a16:creationId xmlns:a16="http://schemas.microsoft.com/office/drawing/2014/main" id="{78661B43-E99D-D503-CB7B-880153DAF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55695"/>
          </a:xfrm>
        </p:spPr>
        <p:txBody>
          <a:bodyPr>
            <a:normAutofit/>
          </a:bodyPr>
          <a:lstStyle/>
          <a:p>
            <a:r>
              <a:rPr lang="en-US" altLang="ko-KR" b="1" dirty="0"/>
              <a:t>4. </a:t>
            </a:r>
            <a:r>
              <a:rPr lang="ko-KR" altLang="ko-KR" b="1" dirty="0"/>
              <a:t>실험 셋업</a:t>
            </a:r>
            <a:endParaRPr lang="ko-KR" altLang="ko-KR" dirty="0"/>
          </a:p>
        </p:txBody>
      </p:sp>
      <p:sp>
        <p:nvSpPr>
          <p:cNvPr id="2" name="슬라이드 번호 개체 틀 4">
            <a:extLst>
              <a:ext uri="{FF2B5EF4-FFF2-40B4-BE49-F238E27FC236}">
                <a16:creationId xmlns:a16="http://schemas.microsoft.com/office/drawing/2014/main" id="{FEB156BE-EBE7-B464-0008-B8BC519B1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167768A3-AC29-4B30-B97D-8EE275BA7DF4}" type="slidenum">
              <a:rPr lang="ko-KR" altLang="en-US" smtClean="0"/>
              <a:t>20</a:t>
            </a:fld>
            <a:endParaRPr lang="ko-KR" altLang="en-US"/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8E1C4C88-AAAE-FA60-7B15-0650E7BDAF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45" y="864973"/>
            <a:ext cx="12103510" cy="5927713"/>
          </a:xfrm>
        </p:spPr>
        <p:txBody>
          <a:bodyPr vert="horz" lIns="91440" tIns="45720" rIns="91440" bIns="45720" rtlCol="0" anchor="t">
            <a:noAutofit/>
          </a:bodyPr>
          <a:lstStyle/>
          <a:p>
            <a:endParaRPr lang="ko-KR" altLang="en-US" sz="1600" dirty="0">
              <a:solidFill>
                <a:schemeClr val="tx1"/>
              </a:solidFill>
            </a:endParaRPr>
          </a:p>
          <a:p>
            <a:endParaRPr lang="ko-KR" altLang="en-US" sz="16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ko-KR" sz="1600" dirty="0">
              <a:solidFill>
                <a:schemeClr val="tx1"/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508B889-AD88-E1E0-C5F0-DB9D0075F0C4}"/>
              </a:ext>
            </a:extLst>
          </p:cNvPr>
          <p:cNvSpPr txBox="1">
            <a:spLocks/>
          </p:cNvSpPr>
          <p:nvPr/>
        </p:nvSpPr>
        <p:spPr>
          <a:xfrm>
            <a:off x="2014" y="850651"/>
            <a:ext cx="12103510" cy="592771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1600">
              <a:solidFill>
                <a:schemeClr val="tx1"/>
              </a:solidFill>
            </a:endParaRPr>
          </a:p>
          <a:p>
            <a:endParaRPr lang="ko-KR" altLang="en-US" sz="1600">
              <a:solidFill>
                <a:schemeClr val="tx1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ko-KR" sz="16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내용 개체 틀 2">
                <a:extLst>
                  <a:ext uri="{FF2B5EF4-FFF2-40B4-BE49-F238E27FC236}">
                    <a16:creationId xmlns:a16="http://schemas.microsoft.com/office/drawing/2014/main" id="{DECA95A6-951C-7C72-EFD3-177C3D5BC18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6476" y="865891"/>
                <a:ext cx="12103510" cy="5927713"/>
              </a:xfrm>
              <a:prstGeom prst="rect">
                <a:avLst/>
              </a:prstGeom>
            </p:spPr>
            <p:txBody>
              <a:bodyPr vert="horz" lIns="91440" tIns="45720" rIns="91440" bIns="45720" rtlCol="0" anchor="t">
                <a:noAutofit/>
              </a:bodyPr>
              <a:lstStyle>
                <a:lvl1pPr marL="228600" indent="-228600" algn="l" defTabSz="914400" rtl="0" eaLnBrk="1" latinLnBrk="1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1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1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1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1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altLang="ko-KR" sz="1600" b="1" dirty="0"/>
                  <a:t>(3) Quality (</a:t>
                </a:r>
                <a:r>
                  <a:rPr lang="ko-KR" altLang="ko-KR" sz="1600" b="1" dirty="0"/>
                  <a:t>정답 일치 수</a:t>
                </a:r>
                <a:r>
                  <a:rPr lang="en-US" altLang="ko-KR" sz="1600" b="1" dirty="0"/>
                  <a:t>)</a:t>
                </a:r>
                <a:endParaRPr lang="ko-KR" altLang="ko-KR" sz="1600" dirty="0"/>
              </a:p>
              <a:p>
                <a:pPr marL="0" indent="0">
                  <a:buNone/>
                </a:pPr>
                <a:r>
                  <a:rPr lang="ko-KR" altLang="ko-KR" sz="1600" dirty="0"/>
                  <a:t>환경에서 각</a:t>
                </a:r>
                <a:r>
                  <a:rPr lang="en-US" altLang="ko-KR" sz="1600" dirty="0"/>
                  <a:t> step</a:t>
                </a:r>
                <a:r>
                  <a:rPr lang="ko-KR" altLang="ko-KR" sz="1600" dirty="0"/>
                  <a:t>마다 계산됨</a:t>
                </a:r>
              </a:p>
              <a:p>
                <a:pPr marL="0" indent="0">
                  <a:buNone/>
                </a:pPr>
                <a:br>
                  <a:rPr lang="en-US" altLang="ko-KR" sz="1600" i="1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600" i="1">
                          <a:latin typeface="Cambria Math" panose="02040503050406030204" pitchFamily="18" charset="0"/>
                        </a:rPr>
                        <m:t>𝑞𝑢𝑎𝑙𝑖𝑡𝑦</m:t>
                      </m:r>
                      <m:r>
                        <a:rPr lang="en-US" altLang="ko-KR" sz="1600" i="1">
                          <a:latin typeface="Cambria Math" panose="02040503050406030204" pitchFamily="18" charset="0"/>
                        </a:rPr>
                        <m:t>=#</m:t>
                      </m:r>
                      <m:d>
                        <m:dPr>
                          <m:begChr m:val="{"/>
                          <m:endChr m:val="}"/>
                          <m:ctrlPr>
                            <a:rPr lang="ko-KR" altLang="ko-KR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𝑠𝑡𝑎𝑡𝑒</m:t>
                          </m:r>
                          <m:d>
                            <m:dPr>
                              <m:ctrlPr>
                                <a:rPr lang="ko-KR" altLang="ko-KR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d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𝑠𝑖𝑙𝑢𝑡𝑖𝑜𝑛</m:t>
                          </m:r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ko-KR" altLang="ko-KR" sz="1600" dirty="0"/>
              </a:p>
              <a:p>
                <a:pPr marL="0" indent="0">
                  <a:buNone/>
                </a:pPr>
                <a:r>
                  <a:rPr lang="ko-KR" altLang="ko-KR" sz="1600" dirty="0"/>
                  <a:t>이 값은 다음을 의미한다</a:t>
                </a:r>
                <a:r>
                  <a:rPr lang="en-US" altLang="ko-KR" sz="1600" dirty="0"/>
                  <a:t>:</a:t>
                </a:r>
                <a:endParaRPr lang="ko-KR" altLang="ko-KR" sz="1600" dirty="0"/>
              </a:p>
              <a:p>
                <a:pPr marL="0" lvl="0" indent="0">
                  <a:buNone/>
                </a:pPr>
                <a:r>
                  <a:rPr lang="ko-KR" altLang="ko-KR" sz="1600" dirty="0"/>
                  <a:t>퍼즐이 완성되지 않아도</a:t>
                </a:r>
                <a:r>
                  <a:rPr lang="en-US" altLang="ko-KR" sz="1600" dirty="0"/>
                  <a:t>,</a:t>
                </a:r>
                <a:br>
                  <a:rPr lang="en-US" altLang="ko-KR" sz="1600" dirty="0"/>
                </a:br>
                <a:r>
                  <a:rPr lang="ko-KR" altLang="ko-KR" sz="1600" b="1" dirty="0"/>
                  <a:t>정답에 얼마나 근접한 보드</a:t>
                </a:r>
                <a:r>
                  <a:rPr lang="ko-KR" altLang="ko-KR" sz="1600" dirty="0"/>
                  <a:t>를 만들었는지 직접적으로 측정</a:t>
                </a:r>
              </a:p>
              <a:p>
                <a:pPr marL="0" lvl="0" indent="0">
                  <a:buNone/>
                </a:pPr>
                <a:r>
                  <a:rPr lang="en-US" altLang="ko-KR" sz="1600" dirty="0"/>
                  <a:t>return</a:t>
                </a:r>
                <a:r>
                  <a:rPr lang="ko-KR" altLang="ko-KR" sz="1600" dirty="0"/>
                  <a:t>보다 훨씬 더 직관적인</a:t>
                </a:r>
                <a:r>
                  <a:rPr lang="en-US" altLang="ko-KR" sz="1600" dirty="0"/>
                  <a:t> metric</a:t>
                </a:r>
                <a:endParaRPr lang="ko-KR" altLang="ko-KR" sz="1600" dirty="0"/>
              </a:p>
              <a:p>
                <a:pPr marL="0" lvl="0" indent="0">
                  <a:buNone/>
                </a:pPr>
                <a:r>
                  <a:rPr lang="ko-KR" altLang="ko-KR" sz="1600" dirty="0"/>
                  <a:t>학습이 진행되면</a:t>
                </a:r>
                <a:r>
                  <a:rPr lang="en-US" altLang="ko-KR" sz="1600" dirty="0"/>
                  <a:t> Quality</a:t>
                </a:r>
                <a:r>
                  <a:rPr lang="ko-KR" altLang="ko-KR" sz="1600" dirty="0"/>
                  <a:t>가 점진적으로 증가해야 정상적인 학습</a:t>
                </a:r>
              </a:p>
              <a:p>
                <a:pPr marL="0" indent="0">
                  <a:buNone/>
                </a:pPr>
                <a:r>
                  <a:rPr lang="ko-KR" altLang="ko-KR" sz="1600" dirty="0"/>
                  <a:t>학습 과정에서는</a:t>
                </a:r>
                <a:r>
                  <a:rPr lang="en-US" altLang="ko-KR" sz="1600" dirty="0"/>
                  <a:t> episode history</a:t>
                </a:r>
                <a:r>
                  <a:rPr lang="ko-KR" altLang="ko-KR" sz="1600" dirty="0"/>
                  <a:t>로 저장되며</a:t>
                </a:r>
                <a:r>
                  <a:rPr lang="en-US" altLang="ko-KR" sz="1600" dirty="0"/>
                  <a:t>,</a:t>
                </a:r>
                <a:br>
                  <a:rPr lang="en-US" altLang="ko-KR" sz="1600" dirty="0"/>
                </a:br>
                <a:r>
                  <a:rPr lang="ko-KR" altLang="ko-KR" sz="1600" dirty="0"/>
                  <a:t>학습 후에는</a:t>
                </a:r>
                <a:r>
                  <a:rPr lang="en-US" altLang="ko-KR" sz="1600" dirty="0"/>
                  <a:t> test puzzle</a:t>
                </a:r>
                <a:r>
                  <a:rPr lang="ko-KR" altLang="ko-KR" sz="1600" dirty="0"/>
                  <a:t>에 대해</a:t>
                </a:r>
                <a:r>
                  <a:rPr lang="en-US" altLang="ko-KR" sz="1600" dirty="0"/>
                  <a:t> quality</a:t>
                </a:r>
                <a:r>
                  <a:rPr lang="ko-KR" altLang="ko-KR" sz="1600" dirty="0"/>
                  <a:t>가 </a:t>
                </a:r>
                <a:r>
                  <a:rPr lang="en-US" altLang="ko-KR" sz="1600" b="1" dirty="0"/>
                  <a:t>board size</a:t>
                </a:r>
                <a:r>
                  <a:rPr lang="ko-KR" altLang="ko-KR" sz="1600" b="1" dirty="0"/>
                  <a:t>와 같다면 완전 성공</a:t>
                </a:r>
                <a:r>
                  <a:rPr lang="ko-KR" altLang="ko-KR" sz="1600" dirty="0"/>
                  <a:t>이다</a:t>
                </a:r>
                <a:r>
                  <a:rPr lang="en-US" altLang="ko-KR" sz="1600" dirty="0"/>
                  <a:t>.</a:t>
                </a:r>
                <a:endParaRPr lang="ko-KR" altLang="ko-KR" sz="1600" dirty="0"/>
              </a:p>
            </p:txBody>
          </p:sp>
        </mc:Choice>
        <mc:Fallback xmlns="">
          <p:sp>
            <p:nvSpPr>
              <p:cNvPr id="6" name="내용 개체 틀 2">
                <a:extLst>
                  <a:ext uri="{FF2B5EF4-FFF2-40B4-BE49-F238E27FC236}">
                    <a16:creationId xmlns:a16="http://schemas.microsoft.com/office/drawing/2014/main" id="{DECA95A6-951C-7C72-EFD3-177C3D5BC1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476" y="865891"/>
                <a:ext cx="12103510" cy="5927713"/>
              </a:xfrm>
              <a:prstGeom prst="rect">
                <a:avLst/>
              </a:prstGeom>
              <a:blipFill>
                <a:blip r:embed="rId3"/>
                <a:stretch>
                  <a:fillRect l="-25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274900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6A74C3-1E7A-80B3-A312-8B1854173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>
            <a:extLst>
              <a:ext uri="{FF2B5EF4-FFF2-40B4-BE49-F238E27FC236}">
                <a16:creationId xmlns:a16="http://schemas.microsoft.com/office/drawing/2014/main" id="{F693958C-1872-4AB5-746E-0EE18FDB23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55695"/>
          </a:xfrm>
        </p:spPr>
        <p:txBody>
          <a:bodyPr>
            <a:normAutofit/>
          </a:bodyPr>
          <a:lstStyle/>
          <a:p>
            <a:r>
              <a:rPr lang="en-US" altLang="ko-KR" b="1" dirty="0"/>
              <a:t>4. </a:t>
            </a:r>
            <a:r>
              <a:rPr lang="ko-KR" altLang="ko-KR" b="1" dirty="0"/>
              <a:t>실험 셋업</a:t>
            </a:r>
            <a:endParaRPr lang="ko-KR" altLang="ko-KR" dirty="0"/>
          </a:p>
        </p:txBody>
      </p:sp>
      <p:sp>
        <p:nvSpPr>
          <p:cNvPr id="2" name="슬라이드 번호 개체 틀 4">
            <a:extLst>
              <a:ext uri="{FF2B5EF4-FFF2-40B4-BE49-F238E27FC236}">
                <a16:creationId xmlns:a16="http://schemas.microsoft.com/office/drawing/2014/main" id="{74E9473F-16C1-CA07-E827-8C36515CA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167768A3-AC29-4B30-B97D-8EE275BA7DF4}" type="slidenum">
              <a:rPr lang="ko-KR" altLang="en-US" smtClean="0"/>
              <a:t>21</a:t>
            </a:fld>
            <a:endParaRPr lang="ko-KR" altLang="en-US"/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6FA21A30-DC4A-FD0D-7F71-00FF08E13E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45" y="864973"/>
            <a:ext cx="12103510" cy="5927713"/>
          </a:xfrm>
        </p:spPr>
        <p:txBody>
          <a:bodyPr vert="horz" lIns="91440" tIns="45720" rIns="91440" bIns="45720" rtlCol="0" anchor="t">
            <a:noAutofit/>
          </a:bodyPr>
          <a:lstStyle/>
          <a:p>
            <a:endParaRPr lang="ko-KR" altLang="en-US" sz="1600" dirty="0">
              <a:solidFill>
                <a:schemeClr val="tx1"/>
              </a:solidFill>
            </a:endParaRPr>
          </a:p>
          <a:p>
            <a:endParaRPr lang="ko-KR" altLang="en-US" sz="16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ko-KR" sz="1600" dirty="0">
              <a:solidFill>
                <a:schemeClr val="tx1"/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6BFF50A-4FDD-BB2D-1797-07FDE14C71C5}"/>
              </a:ext>
            </a:extLst>
          </p:cNvPr>
          <p:cNvSpPr txBox="1">
            <a:spLocks/>
          </p:cNvSpPr>
          <p:nvPr/>
        </p:nvSpPr>
        <p:spPr>
          <a:xfrm>
            <a:off x="2014" y="850651"/>
            <a:ext cx="12103510" cy="592771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1600">
              <a:solidFill>
                <a:schemeClr val="tx1"/>
              </a:solidFill>
            </a:endParaRPr>
          </a:p>
          <a:p>
            <a:endParaRPr lang="ko-KR" altLang="en-US" sz="1600">
              <a:solidFill>
                <a:schemeClr val="tx1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ko-KR" sz="1600" dirty="0">
              <a:solidFill>
                <a:schemeClr val="tx1"/>
              </a:solidFill>
            </a:endParaRP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FC3F01AF-6488-90CA-7A5C-95BA48F0732B}"/>
              </a:ext>
            </a:extLst>
          </p:cNvPr>
          <p:cNvSpPr txBox="1">
            <a:spLocks/>
          </p:cNvSpPr>
          <p:nvPr/>
        </p:nvSpPr>
        <p:spPr>
          <a:xfrm>
            <a:off x="86476" y="865891"/>
            <a:ext cx="12103510" cy="592771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800" b="1" dirty="0"/>
              <a:t>4.3 </a:t>
            </a:r>
            <a:r>
              <a:rPr lang="ko-KR" altLang="ko-KR" sz="1800" b="1" dirty="0"/>
              <a:t>종합 평가 방식</a:t>
            </a:r>
            <a:endParaRPr lang="ko-KR" altLang="ko-KR" sz="1800" dirty="0"/>
          </a:p>
          <a:p>
            <a:pPr marL="0" indent="0">
              <a:buNone/>
            </a:pPr>
            <a:r>
              <a:rPr lang="ko-KR" altLang="ko-KR" sz="1800" dirty="0"/>
              <a:t>실험에서는 다음 두 지표를 함께 분석하여 모델 성능을 판단하였다</a:t>
            </a:r>
            <a:r>
              <a:rPr lang="en-US" altLang="ko-KR" sz="1800" dirty="0"/>
              <a:t>.</a:t>
            </a:r>
            <a:endParaRPr lang="ko-KR" altLang="ko-KR" sz="1800" dirty="0"/>
          </a:p>
          <a:p>
            <a:pPr marL="0" lvl="0" indent="0">
              <a:buNone/>
            </a:pPr>
            <a:r>
              <a:rPr lang="en-US" altLang="ko-KR" sz="1800" b="1" dirty="0"/>
              <a:t>Return Curve</a:t>
            </a:r>
            <a:br>
              <a:rPr lang="en-US" altLang="ko-KR" sz="1800" dirty="0"/>
            </a:br>
            <a:r>
              <a:rPr lang="en-US" altLang="ko-KR" sz="1800" dirty="0"/>
              <a:t>PPO </a:t>
            </a:r>
            <a:r>
              <a:rPr lang="ko-KR" altLang="ko-KR" sz="1800" dirty="0"/>
              <a:t>업데이트 횟수에 따른 최근</a:t>
            </a:r>
            <a:r>
              <a:rPr lang="en-US" altLang="ko-KR" sz="1800" dirty="0"/>
              <a:t> 10 </a:t>
            </a:r>
            <a:r>
              <a:rPr lang="ko-KR" altLang="ko-KR" sz="1800" dirty="0"/>
              <a:t>에피소드 평균 보상</a:t>
            </a:r>
            <a:br>
              <a:rPr lang="en-US" altLang="ko-KR" sz="1800" dirty="0"/>
            </a:br>
            <a:r>
              <a:rPr lang="en-US" altLang="ko-KR" sz="1800" dirty="0"/>
              <a:t>→ </a:t>
            </a:r>
            <a:r>
              <a:rPr lang="ko-KR" altLang="ko-KR" sz="1800" dirty="0"/>
              <a:t>정책이 규칙 위반을 피하고 올바른 행동 비중을 높여가는 과정 확인</a:t>
            </a:r>
          </a:p>
          <a:p>
            <a:pPr marL="0" indent="0">
              <a:buNone/>
            </a:pPr>
            <a:r>
              <a:rPr lang="en-US" altLang="ko-KR" sz="1800" b="1" dirty="0"/>
              <a:t>Completion Curve</a:t>
            </a:r>
            <a:br>
              <a:rPr lang="en-US" altLang="ko-KR" sz="1800" dirty="0"/>
            </a:br>
            <a:r>
              <a:rPr lang="ko-KR" altLang="ko-KR" sz="1800" dirty="0"/>
              <a:t>최근</a:t>
            </a:r>
            <a:r>
              <a:rPr lang="en-US" altLang="ko-KR" sz="1800" dirty="0"/>
              <a:t> 10 </a:t>
            </a:r>
            <a:r>
              <a:rPr lang="ko-KR" altLang="ko-KR" sz="1800" dirty="0"/>
              <a:t>에피소드 기준 퍼즐 </a:t>
            </a:r>
            <a:r>
              <a:rPr lang="ko-KR" altLang="ko-KR" sz="1800" dirty="0" err="1"/>
              <a:t>완성률</a:t>
            </a:r>
            <a:br>
              <a:rPr lang="en-US" altLang="ko-KR" sz="1800" dirty="0"/>
            </a:br>
            <a:r>
              <a:rPr lang="en-US" altLang="ko-KR" sz="1800" dirty="0"/>
              <a:t>→ </a:t>
            </a:r>
            <a:r>
              <a:rPr lang="ko-KR" altLang="ko-KR" sz="1800" dirty="0"/>
              <a:t>보드가 얼마나 자주 끝까지 채워지는지 판단</a:t>
            </a:r>
          </a:p>
        </p:txBody>
      </p:sp>
    </p:spTree>
    <p:extLst>
      <p:ext uri="{BB962C8B-B14F-4D97-AF65-F5344CB8AC3E}">
        <p14:creationId xmlns:p14="http://schemas.microsoft.com/office/powerpoint/2010/main" val="28596511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4AA4B1-8389-9189-D4AC-79EC5DAD4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>
            <a:extLst>
              <a:ext uri="{FF2B5EF4-FFF2-40B4-BE49-F238E27FC236}">
                <a16:creationId xmlns:a16="http://schemas.microsoft.com/office/drawing/2014/main" id="{9963051B-312D-0EE5-951B-50FD885B51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55695"/>
          </a:xfrm>
        </p:spPr>
        <p:txBody>
          <a:bodyPr>
            <a:normAutofit/>
          </a:bodyPr>
          <a:lstStyle/>
          <a:p>
            <a:r>
              <a:rPr lang="en-US" altLang="ko-KR" b="1" dirty="0"/>
              <a:t>5. </a:t>
            </a:r>
            <a:r>
              <a:rPr lang="ko-KR" altLang="en-US" b="1" dirty="0"/>
              <a:t>실험 결과</a:t>
            </a:r>
            <a:endParaRPr lang="ko-KR" altLang="ko-KR" dirty="0"/>
          </a:p>
        </p:txBody>
      </p:sp>
      <p:sp>
        <p:nvSpPr>
          <p:cNvPr id="2" name="슬라이드 번호 개체 틀 4">
            <a:extLst>
              <a:ext uri="{FF2B5EF4-FFF2-40B4-BE49-F238E27FC236}">
                <a16:creationId xmlns:a16="http://schemas.microsoft.com/office/drawing/2014/main" id="{6CC46904-2DE8-A471-3542-E142F730C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167768A3-AC29-4B30-B97D-8EE275BA7DF4}" type="slidenum">
              <a:rPr lang="ko-KR" altLang="en-US" smtClean="0"/>
              <a:t>22</a:t>
            </a:fld>
            <a:endParaRPr lang="ko-KR" altLang="en-US"/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30ABE558-B0CD-DDAD-69F9-7F9DA53C7B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45" y="864973"/>
            <a:ext cx="12103510" cy="5927713"/>
          </a:xfrm>
        </p:spPr>
        <p:txBody>
          <a:bodyPr vert="horz" lIns="91440" tIns="45720" rIns="91440" bIns="45720" rtlCol="0" anchor="t">
            <a:noAutofit/>
          </a:bodyPr>
          <a:lstStyle/>
          <a:p>
            <a:endParaRPr lang="ko-KR" altLang="en-US" sz="1600" dirty="0">
              <a:solidFill>
                <a:schemeClr val="tx1"/>
              </a:solidFill>
            </a:endParaRPr>
          </a:p>
          <a:p>
            <a:endParaRPr lang="ko-KR" altLang="en-US" sz="16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ko-KR" sz="16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ko-KR" sz="16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ko-KR" altLang="ko-KR" b="1" dirty="0"/>
              <a:t>조절한 주요 </a:t>
            </a:r>
            <a:r>
              <a:rPr lang="ko-KR" altLang="ko-KR" b="1" dirty="0" err="1"/>
              <a:t>하이퍼파라미터</a:t>
            </a:r>
            <a:endParaRPr lang="ko-KR" altLang="ko-KR" dirty="0"/>
          </a:p>
          <a:p>
            <a:pPr marL="0" indent="0">
              <a:buNone/>
            </a:pPr>
            <a:endParaRPr lang="en-US" altLang="ko-KR" sz="1600" dirty="0">
              <a:solidFill>
                <a:schemeClr val="tx1"/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C825F89-A7A3-2C80-60DF-5334569CABC6}"/>
              </a:ext>
            </a:extLst>
          </p:cNvPr>
          <p:cNvSpPr txBox="1">
            <a:spLocks/>
          </p:cNvSpPr>
          <p:nvPr/>
        </p:nvSpPr>
        <p:spPr>
          <a:xfrm>
            <a:off x="2014" y="850651"/>
            <a:ext cx="12103510" cy="592771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1600">
              <a:solidFill>
                <a:schemeClr val="tx1"/>
              </a:solidFill>
            </a:endParaRPr>
          </a:p>
          <a:p>
            <a:endParaRPr lang="ko-KR" altLang="en-US" sz="1600">
              <a:solidFill>
                <a:schemeClr val="tx1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ko-KR" sz="1600" dirty="0">
              <a:solidFill>
                <a:schemeClr val="tx1"/>
              </a:solidFill>
            </a:endParaRP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8118E4AB-8376-7250-7035-29BC8F01524F}"/>
              </a:ext>
            </a:extLst>
          </p:cNvPr>
          <p:cNvSpPr txBox="1">
            <a:spLocks/>
          </p:cNvSpPr>
          <p:nvPr/>
        </p:nvSpPr>
        <p:spPr>
          <a:xfrm>
            <a:off x="86476" y="865891"/>
            <a:ext cx="12103510" cy="592771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ko-KR" sz="1800" dirty="0"/>
              <a:t>본 프로젝트의 목적은 </a:t>
            </a:r>
            <a:r>
              <a:rPr lang="en-US" altLang="ko-KR" sz="1800" b="1" dirty="0"/>
              <a:t>GNN </a:t>
            </a:r>
            <a:r>
              <a:rPr lang="ko-KR" altLang="ko-KR" sz="1800" b="1" dirty="0"/>
              <a:t>기반 정책 네트워크와</a:t>
            </a:r>
            <a:r>
              <a:rPr lang="en-US" altLang="ko-KR" sz="1800" b="1" dirty="0"/>
              <a:t> PPO </a:t>
            </a:r>
            <a:r>
              <a:rPr lang="ko-KR" altLang="ko-KR" sz="1800" b="1" dirty="0"/>
              <a:t>강화학습 알고리즘을 결합하여 </a:t>
            </a:r>
            <a:r>
              <a:rPr lang="ko-KR" altLang="ko-KR" sz="1800" b="1" dirty="0" err="1"/>
              <a:t>스도쿠</a:t>
            </a:r>
            <a:r>
              <a:rPr lang="ko-KR" altLang="ko-KR" sz="1800" b="1" dirty="0"/>
              <a:t> 퍼즐 해결이 가능한 에이전트를 구현하는 것</a:t>
            </a:r>
            <a:r>
              <a:rPr lang="en-US" altLang="ko-KR" sz="1800" b="1" dirty="0"/>
              <a:t>. </a:t>
            </a:r>
            <a:r>
              <a:rPr lang="ko-KR" altLang="ko-KR" sz="1800" dirty="0"/>
              <a:t>따라서 본 연구는 다양한</a:t>
            </a:r>
            <a:r>
              <a:rPr lang="en-US" altLang="ko-KR" sz="1800" dirty="0"/>
              <a:t> RL </a:t>
            </a:r>
            <a:r>
              <a:rPr lang="ko-KR" altLang="ko-KR" sz="1800" dirty="0"/>
              <a:t>알고리즘 간의 성능 비교나 모델 아키텍처 실험을 폭넓게 수행하는 데 초점을 두지 않고</a:t>
            </a:r>
            <a:r>
              <a:rPr lang="en-US" altLang="ko-KR" sz="1800" dirty="0"/>
              <a:t>, </a:t>
            </a:r>
            <a:r>
              <a:rPr lang="en-US" altLang="ko-KR" sz="1800" b="1" dirty="0"/>
              <a:t>PPO </a:t>
            </a:r>
            <a:r>
              <a:rPr lang="ko-KR" altLang="ko-KR" sz="1800" b="1" dirty="0"/>
              <a:t>알고리즘 내부의 주요 </a:t>
            </a:r>
            <a:r>
              <a:rPr lang="ko-KR" altLang="ko-KR" sz="1800" b="1" dirty="0" err="1"/>
              <a:t>하이퍼파라미터</a:t>
            </a:r>
            <a:r>
              <a:rPr lang="en-US" altLang="ko-KR" sz="1800" b="1" dirty="0"/>
              <a:t>(</a:t>
            </a:r>
            <a:r>
              <a:rPr lang="en-US" altLang="ko-KR" sz="1800" b="1" dirty="0" err="1"/>
              <a:t>lr</a:t>
            </a:r>
            <a:r>
              <a:rPr lang="en-US" altLang="ko-KR" sz="1800" b="1" dirty="0"/>
              <a:t>, entropy, rollout steps)</a:t>
            </a:r>
            <a:r>
              <a:rPr lang="en-US" altLang="ko-KR" sz="1800" dirty="0"/>
              <a:t> </a:t>
            </a:r>
            <a:r>
              <a:rPr lang="ko-KR" altLang="ko-KR" sz="1800" dirty="0"/>
              <a:t>조정에 집중하여 성능 차이를 분석</a:t>
            </a:r>
            <a:r>
              <a:rPr lang="en-US" altLang="ko-KR" sz="1800" dirty="0"/>
              <a:t>.</a:t>
            </a:r>
            <a:endParaRPr lang="ko-KR" altLang="ko-KR" sz="1800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D37FD912-8FEE-9184-38E5-A1463C5895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6624" y="3642005"/>
            <a:ext cx="5563213" cy="1570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28463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59C569-BFD1-4C29-0B18-7E4748172B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>
            <a:extLst>
              <a:ext uri="{FF2B5EF4-FFF2-40B4-BE49-F238E27FC236}">
                <a16:creationId xmlns:a16="http://schemas.microsoft.com/office/drawing/2014/main" id="{F2CF137C-E273-2F76-9382-729BE57404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55695"/>
          </a:xfrm>
        </p:spPr>
        <p:txBody>
          <a:bodyPr>
            <a:normAutofit/>
          </a:bodyPr>
          <a:lstStyle/>
          <a:p>
            <a:r>
              <a:rPr lang="en-US" altLang="ko-KR" b="1" dirty="0"/>
              <a:t>5. </a:t>
            </a:r>
            <a:r>
              <a:rPr lang="ko-KR" altLang="en-US" b="1" dirty="0"/>
              <a:t>실험 결과</a:t>
            </a:r>
            <a:endParaRPr lang="ko-KR" altLang="ko-KR" dirty="0"/>
          </a:p>
        </p:txBody>
      </p:sp>
      <p:sp>
        <p:nvSpPr>
          <p:cNvPr id="2" name="슬라이드 번호 개체 틀 4">
            <a:extLst>
              <a:ext uri="{FF2B5EF4-FFF2-40B4-BE49-F238E27FC236}">
                <a16:creationId xmlns:a16="http://schemas.microsoft.com/office/drawing/2014/main" id="{AC37CC7D-7C4B-E54D-AEF5-10031EF49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167768A3-AC29-4B30-B97D-8EE275BA7DF4}" type="slidenum">
              <a:rPr lang="ko-KR" altLang="en-US" smtClean="0"/>
              <a:t>23</a:t>
            </a:fld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783F4E6-267D-03D5-8683-B8ED58DF2CE7}"/>
              </a:ext>
            </a:extLst>
          </p:cNvPr>
          <p:cNvSpPr txBox="1">
            <a:spLocks/>
          </p:cNvSpPr>
          <p:nvPr/>
        </p:nvSpPr>
        <p:spPr>
          <a:xfrm>
            <a:off x="2014" y="850651"/>
            <a:ext cx="12103510" cy="592771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1600" dirty="0">
              <a:solidFill>
                <a:schemeClr val="tx1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ko-KR" sz="1600" dirty="0">
              <a:solidFill>
                <a:schemeClr val="tx1"/>
              </a:solidFill>
            </a:endParaRP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20BB2D96-97A8-DA0D-854A-E98197F860ED}"/>
              </a:ext>
            </a:extLst>
          </p:cNvPr>
          <p:cNvSpPr txBox="1">
            <a:spLocks/>
          </p:cNvSpPr>
          <p:nvPr/>
        </p:nvSpPr>
        <p:spPr>
          <a:xfrm>
            <a:off x="86476" y="865891"/>
            <a:ext cx="12103510" cy="592771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800" b="1" dirty="0"/>
              <a:t>Learning Rate </a:t>
            </a:r>
            <a:r>
              <a:rPr lang="ko-KR" altLang="ko-KR" sz="1800" b="1" dirty="0"/>
              <a:t>변화에 따른 영향</a:t>
            </a:r>
            <a:endParaRPr lang="ko-KR" altLang="ko-KR" sz="1800" dirty="0"/>
          </a:p>
          <a:p>
            <a:pPr marL="0" indent="0">
              <a:buNone/>
            </a:pPr>
            <a:r>
              <a:rPr lang="en-US" altLang="ko-KR" sz="1800" dirty="0" err="1"/>
              <a:t>lr</a:t>
            </a:r>
            <a:r>
              <a:rPr lang="ko-KR" altLang="ko-KR" sz="1800" dirty="0"/>
              <a:t>이 너무 큰 경우 정책이 급격히 업데이트되어 </a:t>
            </a:r>
            <a:r>
              <a:rPr lang="en-US" altLang="ko-KR" sz="1800" b="1" dirty="0"/>
              <a:t>reward variance</a:t>
            </a:r>
            <a:r>
              <a:rPr lang="ko-KR" altLang="ko-KR" sz="1800" b="1" dirty="0"/>
              <a:t>가 커지고</a:t>
            </a:r>
            <a:r>
              <a:rPr lang="en-US" altLang="ko-KR" sz="1800" b="1" dirty="0"/>
              <a:t> unstable </a:t>
            </a:r>
            <a:r>
              <a:rPr lang="ko-KR" altLang="ko-KR" sz="1800" b="1" dirty="0"/>
              <a:t>학습</a:t>
            </a:r>
            <a:r>
              <a:rPr lang="ko-KR" altLang="ko-KR" sz="1800" dirty="0"/>
              <a:t>이 나타남 </a:t>
            </a:r>
          </a:p>
          <a:p>
            <a:pPr marL="0" indent="0">
              <a:buNone/>
            </a:pPr>
            <a:r>
              <a:rPr lang="en-US" altLang="ko-KR" sz="1800" dirty="0" err="1"/>
              <a:t>lr</a:t>
            </a:r>
            <a:r>
              <a:rPr lang="ko-KR" altLang="ko-KR" sz="1800" dirty="0"/>
              <a:t>이 너무 작은 경우 정책 업데이트가 느려져 </a:t>
            </a:r>
            <a:r>
              <a:rPr lang="ko-KR" altLang="ko-KR" sz="1800" b="1" dirty="0"/>
              <a:t>수렴 속도가 매우 느림</a:t>
            </a:r>
            <a:endParaRPr lang="ko-KR" altLang="ko-KR" sz="1800" dirty="0"/>
          </a:p>
          <a:p>
            <a:pPr marL="0" indent="0">
              <a:buNone/>
            </a:pPr>
            <a:r>
              <a:rPr lang="ko-KR" altLang="ko-KR" sz="1800" dirty="0"/>
              <a:t>이로 인해 최종적으로 </a:t>
            </a:r>
            <a:r>
              <a:rPr lang="en-US" altLang="ko-KR" sz="1800" b="1" dirty="0" err="1"/>
              <a:t>lr</a:t>
            </a:r>
            <a:r>
              <a:rPr lang="en-US" altLang="ko-KR" sz="1800" b="1" dirty="0"/>
              <a:t>=0.00005</a:t>
            </a:r>
            <a:r>
              <a:rPr lang="ko-KR" altLang="ko-KR" sz="1800" dirty="0"/>
              <a:t>가 가장 우수한 설정으로 판단하였다</a:t>
            </a:r>
            <a:r>
              <a:rPr lang="en-US" altLang="ko-KR" sz="1800" dirty="0"/>
              <a:t>.</a:t>
            </a:r>
            <a:endParaRPr lang="ko-KR" altLang="ko-KR" sz="1800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B03CDECA-B674-D0CB-1849-E9EDB60815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8216" y="3669216"/>
            <a:ext cx="9901673" cy="2507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80673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4EEDEF-8DC8-E81E-E6B8-71684C7497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>
            <a:extLst>
              <a:ext uri="{FF2B5EF4-FFF2-40B4-BE49-F238E27FC236}">
                <a16:creationId xmlns:a16="http://schemas.microsoft.com/office/drawing/2014/main" id="{43CFDE93-B526-0462-8145-C72EE7E31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55695"/>
          </a:xfrm>
        </p:spPr>
        <p:txBody>
          <a:bodyPr>
            <a:normAutofit/>
          </a:bodyPr>
          <a:lstStyle/>
          <a:p>
            <a:r>
              <a:rPr lang="en-US" altLang="ko-KR" b="1" dirty="0"/>
              <a:t>5. </a:t>
            </a:r>
            <a:r>
              <a:rPr lang="ko-KR" altLang="en-US" b="1" dirty="0"/>
              <a:t>실험 결과</a:t>
            </a:r>
            <a:endParaRPr lang="ko-KR" altLang="ko-KR" dirty="0"/>
          </a:p>
        </p:txBody>
      </p:sp>
      <p:sp>
        <p:nvSpPr>
          <p:cNvPr id="2" name="슬라이드 번호 개체 틀 4">
            <a:extLst>
              <a:ext uri="{FF2B5EF4-FFF2-40B4-BE49-F238E27FC236}">
                <a16:creationId xmlns:a16="http://schemas.microsoft.com/office/drawing/2014/main" id="{BB991451-91EA-F648-F1EE-4D58F5D43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167768A3-AC29-4B30-B97D-8EE275BA7DF4}" type="slidenum">
              <a:rPr lang="ko-KR" altLang="en-US" smtClean="0"/>
              <a:t>24</a:t>
            </a:fld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326C981-C8A5-144C-D81C-82A91FCFCDCB}"/>
              </a:ext>
            </a:extLst>
          </p:cNvPr>
          <p:cNvSpPr txBox="1">
            <a:spLocks/>
          </p:cNvSpPr>
          <p:nvPr/>
        </p:nvSpPr>
        <p:spPr>
          <a:xfrm>
            <a:off x="2014" y="850651"/>
            <a:ext cx="12103510" cy="592771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1600" dirty="0">
              <a:solidFill>
                <a:schemeClr val="tx1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ko-KR" sz="1600" dirty="0">
              <a:solidFill>
                <a:schemeClr val="tx1"/>
              </a:solidFill>
            </a:endParaRP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08765B09-A784-5E2C-B386-74C30E26B494}"/>
              </a:ext>
            </a:extLst>
          </p:cNvPr>
          <p:cNvSpPr txBox="1">
            <a:spLocks/>
          </p:cNvSpPr>
          <p:nvPr/>
        </p:nvSpPr>
        <p:spPr>
          <a:xfrm>
            <a:off x="86476" y="865891"/>
            <a:ext cx="12103510" cy="592771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r>
              <a:rPr lang="en-US" altLang="ko-KR" sz="1600" b="1" dirty="0"/>
              <a:t>Entropy Coefficient</a:t>
            </a:r>
            <a:r>
              <a:rPr lang="ko-KR" altLang="ko-KR" sz="1600" b="1" dirty="0"/>
              <a:t>의 영향</a:t>
            </a:r>
            <a:endParaRPr lang="ko-KR" altLang="ko-KR" sz="1600" dirty="0"/>
          </a:p>
          <a:p>
            <a:pPr marL="0" indent="0">
              <a:buNone/>
            </a:pPr>
            <a:r>
              <a:rPr lang="en-US" altLang="ko-KR" sz="1800" dirty="0"/>
              <a:t>Entropy term</a:t>
            </a:r>
            <a:r>
              <a:rPr lang="ko-KR" altLang="ko-KR" sz="1800" dirty="0"/>
              <a:t>은 정책의 탐색 정도를 조절한다</a:t>
            </a:r>
            <a:r>
              <a:rPr lang="en-US" altLang="ko-KR" sz="1800" dirty="0"/>
              <a:t>. </a:t>
            </a:r>
            <a:r>
              <a:rPr lang="en-US" altLang="ko-KR" sz="1800" dirty="0" err="1"/>
              <a:t>entropy_coef</a:t>
            </a:r>
            <a:r>
              <a:rPr lang="ko-KR" altLang="ko-KR" sz="1800" dirty="0"/>
              <a:t>이 너무 높으면 </a:t>
            </a:r>
            <a:r>
              <a:rPr lang="ko-KR" altLang="ko-KR" sz="1800" dirty="0" err="1"/>
              <a:t>랜덤한</a:t>
            </a:r>
            <a:r>
              <a:rPr lang="ko-KR" altLang="ko-KR" sz="1800" dirty="0"/>
              <a:t> 행동이 증가해 </a:t>
            </a:r>
            <a:r>
              <a:rPr lang="ko-KR" altLang="ko-KR" sz="1800" b="1" dirty="0" err="1"/>
              <a:t>스도쿠</a:t>
            </a:r>
            <a:r>
              <a:rPr lang="ko-KR" altLang="ko-KR" sz="1800" b="1" dirty="0"/>
              <a:t> 구조를 학습하지 못하고 수렴이 느려지고</a:t>
            </a:r>
            <a:r>
              <a:rPr lang="en-US" altLang="ko-KR" sz="1800" b="1" dirty="0"/>
              <a:t>, </a:t>
            </a:r>
            <a:r>
              <a:rPr lang="en-US" altLang="ko-KR" sz="1800" dirty="0" err="1"/>
              <a:t>entropy_coef</a:t>
            </a:r>
            <a:r>
              <a:rPr lang="ko-KR" altLang="ko-KR" sz="1800" dirty="0"/>
              <a:t>이 너무 낮으면 초기 탐색 부족으로 </a:t>
            </a:r>
            <a:r>
              <a:rPr lang="en-US" altLang="ko-KR" sz="1800" b="1" dirty="0"/>
              <a:t>local optimum</a:t>
            </a:r>
            <a:r>
              <a:rPr lang="ko-KR" altLang="ko-KR" sz="1800" b="1" dirty="0"/>
              <a:t>에 빠질 가능성이 높음</a:t>
            </a:r>
            <a:r>
              <a:rPr lang="en-US" altLang="ko-KR" sz="1800" dirty="0"/>
              <a:t>. </a:t>
            </a:r>
            <a:r>
              <a:rPr lang="ko-KR" altLang="ko-KR" sz="1800" dirty="0"/>
              <a:t>실험에서는 </a:t>
            </a:r>
            <a:r>
              <a:rPr lang="en-US" altLang="ko-KR" sz="1800" b="1" dirty="0"/>
              <a:t>entropy = 0.001</a:t>
            </a:r>
            <a:r>
              <a:rPr lang="ko-KR" altLang="ko-KR" sz="1800" dirty="0"/>
              <a:t>을 사용했고 이 값이</a:t>
            </a:r>
            <a:r>
              <a:rPr lang="en-US" altLang="ko-KR" sz="1800" dirty="0"/>
              <a:t> PPO</a:t>
            </a:r>
            <a:r>
              <a:rPr lang="ko-KR" altLang="ko-KR" sz="1800" dirty="0"/>
              <a:t>에서 가장 적절한 탐색</a:t>
            </a:r>
            <a:r>
              <a:rPr lang="en-US" altLang="ko-KR" sz="1800" dirty="0"/>
              <a:t>–</a:t>
            </a:r>
            <a:r>
              <a:rPr lang="ko-KR" altLang="ko-KR" sz="1800" dirty="0"/>
              <a:t>수렴 균형을 제공한다고 판단하였다</a:t>
            </a:r>
            <a:r>
              <a:rPr lang="en-US" altLang="ko-KR" sz="1800" dirty="0"/>
              <a:t>.</a:t>
            </a:r>
            <a:endParaRPr lang="ko-KR" altLang="ko-KR" sz="18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9E69589-FC61-A48C-8CF0-334087B0C98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5061"/>
          <a:stretch>
            <a:fillRect/>
          </a:stretch>
        </p:blipFill>
        <p:spPr>
          <a:xfrm>
            <a:off x="937192" y="3628456"/>
            <a:ext cx="10233154" cy="2828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23147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8AE933-C361-8EE7-8FC4-8DF4930537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>
            <a:extLst>
              <a:ext uri="{FF2B5EF4-FFF2-40B4-BE49-F238E27FC236}">
                <a16:creationId xmlns:a16="http://schemas.microsoft.com/office/drawing/2014/main" id="{6495CF6C-9E1A-66E0-7D89-5EBE36693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55695"/>
          </a:xfrm>
        </p:spPr>
        <p:txBody>
          <a:bodyPr>
            <a:normAutofit/>
          </a:bodyPr>
          <a:lstStyle/>
          <a:p>
            <a:r>
              <a:rPr lang="en-US" altLang="ko-KR" b="1" dirty="0"/>
              <a:t>5. </a:t>
            </a:r>
            <a:r>
              <a:rPr lang="ko-KR" altLang="en-US" b="1" dirty="0"/>
              <a:t>실험 결과</a:t>
            </a:r>
            <a:endParaRPr lang="ko-KR" altLang="ko-KR" dirty="0"/>
          </a:p>
        </p:txBody>
      </p:sp>
      <p:sp>
        <p:nvSpPr>
          <p:cNvPr id="2" name="슬라이드 번호 개체 틀 4">
            <a:extLst>
              <a:ext uri="{FF2B5EF4-FFF2-40B4-BE49-F238E27FC236}">
                <a16:creationId xmlns:a16="http://schemas.microsoft.com/office/drawing/2014/main" id="{AA3FFE77-7D12-2692-2D02-5DC5DDEEF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167768A3-AC29-4B30-B97D-8EE275BA7DF4}" type="slidenum">
              <a:rPr lang="ko-KR" altLang="en-US" smtClean="0"/>
              <a:t>25</a:t>
            </a:fld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D23E33F-4434-A3FA-4F57-6743583C7703}"/>
              </a:ext>
            </a:extLst>
          </p:cNvPr>
          <p:cNvSpPr txBox="1">
            <a:spLocks/>
          </p:cNvSpPr>
          <p:nvPr/>
        </p:nvSpPr>
        <p:spPr>
          <a:xfrm>
            <a:off x="2014" y="850651"/>
            <a:ext cx="12103510" cy="592771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1600" dirty="0">
              <a:solidFill>
                <a:schemeClr val="tx1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ko-KR" sz="1600" dirty="0">
              <a:solidFill>
                <a:schemeClr val="tx1"/>
              </a:solidFill>
            </a:endParaRP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13CBCBBE-B991-E7E2-1825-E26B111FA030}"/>
              </a:ext>
            </a:extLst>
          </p:cNvPr>
          <p:cNvSpPr txBox="1">
            <a:spLocks/>
          </p:cNvSpPr>
          <p:nvPr/>
        </p:nvSpPr>
        <p:spPr>
          <a:xfrm>
            <a:off x="86476" y="865891"/>
            <a:ext cx="12103510" cy="592771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600" b="1" dirty="0"/>
              <a:t>5.5 Rollout Length</a:t>
            </a:r>
            <a:r>
              <a:rPr lang="ko-KR" altLang="ko-KR" sz="1600" b="1" dirty="0"/>
              <a:t>의 영향</a:t>
            </a:r>
            <a:endParaRPr lang="ko-KR" altLang="ko-KR" sz="1600" dirty="0"/>
          </a:p>
          <a:p>
            <a:pPr marL="0" indent="0">
              <a:buNone/>
            </a:pPr>
            <a:r>
              <a:rPr lang="en-US" altLang="ko-KR" sz="1600" dirty="0"/>
              <a:t>Rollout length</a:t>
            </a:r>
            <a:r>
              <a:rPr lang="ko-KR" altLang="ko-KR" sz="1600" dirty="0"/>
              <a:t>는</a:t>
            </a:r>
            <a:r>
              <a:rPr lang="en-US" altLang="ko-KR" sz="1600" dirty="0"/>
              <a:t> PPO update</a:t>
            </a:r>
            <a:r>
              <a:rPr lang="ko-KR" altLang="ko-KR" sz="1600" dirty="0"/>
              <a:t>에서 한 번에 보는</a:t>
            </a:r>
            <a:r>
              <a:rPr lang="en-US" altLang="ko-KR" sz="1600" dirty="0"/>
              <a:t> trajectory</a:t>
            </a:r>
            <a:r>
              <a:rPr lang="ko-KR" altLang="ko-KR" sz="1600" dirty="0"/>
              <a:t>의 길이를 의미한다</a:t>
            </a:r>
            <a:r>
              <a:rPr lang="en-US" altLang="ko-KR" sz="1600" dirty="0"/>
              <a:t>.</a:t>
            </a:r>
            <a:endParaRPr lang="ko-KR" altLang="ko-KR" sz="1600" dirty="0"/>
          </a:p>
          <a:p>
            <a:pPr marL="0" lvl="0" indent="0">
              <a:buNone/>
            </a:pPr>
            <a:r>
              <a:rPr lang="ko-KR" altLang="ko-KR" sz="1600" dirty="0"/>
              <a:t>너무 짧은</a:t>
            </a:r>
            <a:r>
              <a:rPr lang="en-US" altLang="ko-KR" sz="1600" dirty="0"/>
              <a:t> rollout (</a:t>
            </a:r>
            <a:r>
              <a:rPr lang="ko-KR" altLang="ko-KR" sz="1600" dirty="0"/>
              <a:t>예</a:t>
            </a:r>
            <a:r>
              <a:rPr lang="en-US" altLang="ko-KR" sz="1600" dirty="0"/>
              <a:t>: 32)</a:t>
            </a:r>
            <a:br>
              <a:rPr lang="en-US" altLang="ko-KR" sz="1600" dirty="0"/>
            </a:br>
            <a:r>
              <a:rPr lang="en-US" altLang="ko-KR" sz="1600" dirty="0"/>
              <a:t>→ advantage </a:t>
            </a:r>
            <a:r>
              <a:rPr lang="ko-KR" altLang="ko-KR" sz="1600" dirty="0"/>
              <a:t>추정치의 분산이 크고</a:t>
            </a:r>
            <a:br>
              <a:rPr lang="en-US" altLang="ko-KR" sz="1600" dirty="0"/>
            </a:br>
            <a:r>
              <a:rPr lang="en-US" altLang="ko-KR" sz="1600" dirty="0"/>
              <a:t>→ </a:t>
            </a:r>
            <a:r>
              <a:rPr lang="ko-KR" altLang="ko-KR" sz="1600" dirty="0"/>
              <a:t>정책 업데이트가</a:t>
            </a:r>
            <a:r>
              <a:rPr lang="en-US" altLang="ko-KR" sz="1600" dirty="0"/>
              <a:t> noisy</a:t>
            </a:r>
            <a:r>
              <a:rPr lang="ko-KR" altLang="ko-KR" sz="1600" dirty="0"/>
              <a:t>하게 변함</a:t>
            </a:r>
          </a:p>
          <a:p>
            <a:pPr marL="0" lvl="0" indent="0">
              <a:buNone/>
            </a:pPr>
            <a:r>
              <a:rPr lang="ko-KR" altLang="ko-KR" sz="1600" dirty="0"/>
              <a:t>너무 긴</a:t>
            </a:r>
            <a:r>
              <a:rPr lang="en-US" altLang="ko-KR" sz="1600" dirty="0"/>
              <a:t> rollout (</a:t>
            </a:r>
            <a:r>
              <a:rPr lang="ko-KR" altLang="ko-KR" sz="1600" dirty="0"/>
              <a:t>예</a:t>
            </a:r>
            <a:r>
              <a:rPr lang="en-US" altLang="ko-KR" sz="1600" dirty="0"/>
              <a:t>: 128, 256</a:t>
            </a:r>
            <a:r>
              <a:rPr lang="ko-KR" altLang="ko-KR" sz="1600" dirty="0"/>
              <a:t>이상</a:t>
            </a:r>
            <a:r>
              <a:rPr lang="en-US" altLang="ko-KR" sz="1600" dirty="0"/>
              <a:t>)</a:t>
            </a:r>
            <a:br>
              <a:rPr lang="en-US" altLang="ko-KR" sz="1600" dirty="0"/>
            </a:br>
            <a:r>
              <a:rPr lang="en-US" altLang="ko-KR" sz="1600" dirty="0"/>
              <a:t>→ </a:t>
            </a:r>
            <a:r>
              <a:rPr lang="ko-KR" altLang="ko-KR" sz="1600" dirty="0"/>
              <a:t>정책 업데이트 빈도가 줄어들고</a:t>
            </a:r>
            <a:br>
              <a:rPr lang="en-US" altLang="ko-KR" sz="1600" dirty="0"/>
            </a:br>
            <a:r>
              <a:rPr lang="en-US" altLang="ko-KR" sz="1600" dirty="0"/>
              <a:t>→ </a:t>
            </a:r>
            <a:r>
              <a:rPr lang="ko-KR" altLang="ko-KR" sz="1600" dirty="0" err="1"/>
              <a:t>스도쿠의</a:t>
            </a:r>
            <a:r>
              <a:rPr lang="ko-KR" altLang="ko-KR" sz="1600" dirty="0"/>
              <a:t> 조기 종료 문제 때문에</a:t>
            </a:r>
            <a:r>
              <a:rPr lang="en-US" altLang="ko-KR" sz="1600" dirty="0"/>
              <a:t> trajectory </a:t>
            </a:r>
            <a:r>
              <a:rPr lang="ko-KR" altLang="ko-KR" sz="1600" dirty="0"/>
              <a:t>길이 낭비 발생</a:t>
            </a:r>
          </a:p>
          <a:p>
            <a:pPr marL="0" lvl="0" indent="0">
              <a:buNone/>
            </a:pPr>
            <a:r>
              <a:rPr lang="en-US" altLang="ko-KR" sz="1600" b="1" dirty="0" err="1"/>
              <a:t>rollout_steps</a:t>
            </a:r>
            <a:r>
              <a:rPr lang="en-US" altLang="ko-KR" sz="1600" b="1" dirty="0"/>
              <a:t> = 64</a:t>
            </a:r>
            <a:br>
              <a:rPr lang="en-US" altLang="ko-KR" sz="1600" dirty="0"/>
            </a:br>
            <a:r>
              <a:rPr lang="en-US" altLang="ko-KR" sz="1600" dirty="0"/>
              <a:t>→ exploration </a:t>
            </a:r>
            <a:r>
              <a:rPr lang="ko-KR" altLang="ko-KR" sz="1600" dirty="0"/>
              <a:t>및</a:t>
            </a:r>
            <a:r>
              <a:rPr lang="en-US" altLang="ko-KR" sz="1600" dirty="0"/>
              <a:t> advantage </a:t>
            </a:r>
            <a:r>
              <a:rPr lang="ko-KR" altLang="ko-KR" sz="1600" dirty="0"/>
              <a:t>추정 안정성에 가장 적합</a:t>
            </a:r>
            <a:br>
              <a:rPr lang="en-US" altLang="ko-KR" sz="1600" dirty="0"/>
            </a:br>
            <a:r>
              <a:rPr lang="en-US" altLang="ko-KR" sz="1600" dirty="0"/>
              <a:t>→ return curve</a:t>
            </a:r>
            <a:r>
              <a:rPr lang="ko-KR" altLang="ko-KR" sz="1600" dirty="0"/>
              <a:t>와</a:t>
            </a:r>
            <a:r>
              <a:rPr lang="en-US" altLang="ko-KR" sz="1600" dirty="0"/>
              <a:t> completion curve</a:t>
            </a:r>
            <a:r>
              <a:rPr lang="ko-KR" altLang="ko-KR" sz="1600" dirty="0"/>
              <a:t>에서 가장 일관된 상승 패턴을 보임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189CDF0F-5D2C-B4C4-BDC6-30DB0BD042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2671" y="1905340"/>
            <a:ext cx="6515818" cy="1685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80519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28509E-8DB9-3F6A-A24B-178947E78F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>
            <a:extLst>
              <a:ext uri="{FF2B5EF4-FFF2-40B4-BE49-F238E27FC236}">
                <a16:creationId xmlns:a16="http://schemas.microsoft.com/office/drawing/2014/main" id="{4A98C25D-4414-4D7E-71BB-731F1C0852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55695"/>
          </a:xfrm>
        </p:spPr>
        <p:txBody>
          <a:bodyPr>
            <a:normAutofit/>
          </a:bodyPr>
          <a:lstStyle/>
          <a:p>
            <a:r>
              <a:rPr lang="en-US" altLang="ko-KR" b="1" dirty="0"/>
              <a:t>5. </a:t>
            </a:r>
            <a:r>
              <a:rPr lang="ko-KR" altLang="en-US" b="1" dirty="0"/>
              <a:t>실험 결과</a:t>
            </a:r>
            <a:endParaRPr lang="ko-KR" altLang="ko-KR" dirty="0"/>
          </a:p>
        </p:txBody>
      </p:sp>
      <p:sp>
        <p:nvSpPr>
          <p:cNvPr id="2" name="슬라이드 번호 개체 틀 4">
            <a:extLst>
              <a:ext uri="{FF2B5EF4-FFF2-40B4-BE49-F238E27FC236}">
                <a16:creationId xmlns:a16="http://schemas.microsoft.com/office/drawing/2014/main" id="{68DF0CC5-EA1C-9516-4ED9-4006BDBF0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167768A3-AC29-4B30-B97D-8EE275BA7DF4}" type="slidenum">
              <a:rPr lang="ko-KR" altLang="en-US" smtClean="0"/>
              <a:t>26</a:t>
            </a:fld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C2DFAA9-088E-2CB2-9A50-8390F7CEF1A3}"/>
              </a:ext>
            </a:extLst>
          </p:cNvPr>
          <p:cNvSpPr txBox="1">
            <a:spLocks/>
          </p:cNvSpPr>
          <p:nvPr/>
        </p:nvSpPr>
        <p:spPr>
          <a:xfrm>
            <a:off x="2014" y="850651"/>
            <a:ext cx="12103510" cy="592771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1600" dirty="0">
              <a:solidFill>
                <a:schemeClr val="tx1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ko-KR" sz="1600" dirty="0">
              <a:solidFill>
                <a:schemeClr val="tx1"/>
              </a:solidFill>
            </a:endParaRP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DF16A114-BA0E-5E48-DDCE-7A5AEEEC00BE}"/>
              </a:ext>
            </a:extLst>
          </p:cNvPr>
          <p:cNvSpPr txBox="1">
            <a:spLocks/>
          </p:cNvSpPr>
          <p:nvPr/>
        </p:nvSpPr>
        <p:spPr>
          <a:xfrm>
            <a:off x="86476" y="865891"/>
            <a:ext cx="12103510" cy="592771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ko-KR" altLang="ko-KR" sz="16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330BD54-A1D2-4866-A082-DCFCB90B03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794" y="920454"/>
            <a:ext cx="3289744" cy="587315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6E0D9443-C5F3-E1B1-186E-96C33656F0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9655" y="879798"/>
            <a:ext cx="3151000" cy="6003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0349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5E093F-B333-AF89-702D-5EF13946A5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>
            <a:extLst>
              <a:ext uri="{FF2B5EF4-FFF2-40B4-BE49-F238E27FC236}">
                <a16:creationId xmlns:a16="http://schemas.microsoft.com/office/drawing/2014/main" id="{45713A05-66AB-4BDF-CE89-24B67BF4A4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55695"/>
          </a:xfrm>
        </p:spPr>
        <p:txBody>
          <a:bodyPr>
            <a:normAutofit/>
          </a:bodyPr>
          <a:lstStyle/>
          <a:p>
            <a:r>
              <a:rPr lang="en-US" altLang="ko-KR" b="1" dirty="0"/>
              <a:t>6. </a:t>
            </a:r>
            <a:r>
              <a:rPr lang="ko-KR" altLang="ko-KR" b="1" dirty="0"/>
              <a:t>토의 및 결론 </a:t>
            </a:r>
            <a:endParaRPr lang="ko-KR" altLang="ko-KR" dirty="0"/>
          </a:p>
        </p:txBody>
      </p:sp>
      <p:sp>
        <p:nvSpPr>
          <p:cNvPr id="2" name="슬라이드 번호 개체 틀 4">
            <a:extLst>
              <a:ext uri="{FF2B5EF4-FFF2-40B4-BE49-F238E27FC236}">
                <a16:creationId xmlns:a16="http://schemas.microsoft.com/office/drawing/2014/main" id="{D62F25BA-7199-FBF2-2D23-070E515A98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167768A3-AC29-4B30-B97D-8EE275BA7DF4}" type="slidenum">
              <a:rPr lang="ko-KR" altLang="en-US" smtClean="0"/>
              <a:t>27</a:t>
            </a:fld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0124623-D310-7D34-9CB3-F47E4C0051ED}"/>
              </a:ext>
            </a:extLst>
          </p:cNvPr>
          <p:cNvSpPr txBox="1">
            <a:spLocks/>
          </p:cNvSpPr>
          <p:nvPr/>
        </p:nvSpPr>
        <p:spPr>
          <a:xfrm>
            <a:off x="2014" y="850651"/>
            <a:ext cx="12103510" cy="592771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1600" dirty="0">
              <a:solidFill>
                <a:schemeClr val="tx1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ko-KR" sz="1600" dirty="0">
              <a:solidFill>
                <a:schemeClr val="tx1"/>
              </a:solidFill>
            </a:endParaRP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7FDEE7E4-1302-9FE4-E238-25C23C64C27A}"/>
              </a:ext>
            </a:extLst>
          </p:cNvPr>
          <p:cNvSpPr txBox="1">
            <a:spLocks/>
          </p:cNvSpPr>
          <p:nvPr/>
        </p:nvSpPr>
        <p:spPr>
          <a:xfrm>
            <a:off x="86476" y="865891"/>
            <a:ext cx="12103510" cy="592771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800" b="1" dirty="0"/>
              <a:t>1) </a:t>
            </a:r>
            <a:r>
              <a:rPr lang="ko-KR" altLang="ko-KR" sz="1800" b="1" dirty="0"/>
              <a:t>일반화가 거의 일어나지 않는 구조</a:t>
            </a:r>
            <a:endParaRPr lang="ko-KR" altLang="ko-KR" sz="1800" dirty="0"/>
          </a:p>
          <a:p>
            <a:pPr marL="0" indent="0">
              <a:buNone/>
            </a:pPr>
            <a:r>
              <a:rPr lang="ko-KR" altLang="ko-KR" sz="1800" dirty="0"/>
              <a:t>본 코드에서</a:t>
            </a:r>
            <a:r>
              <a:rPr lang="en-US" altLang="ko-KR" sz="1800" dirty="0"/>
              <a:t> </a:t>
            </a:r>
            <a:r>
              <a:rPr lang="en-US" altLang="ko-KR" sz="1800" dirty="0" err="1"/>
              <a:t>single_base</a:t>
            </a:r>
            <a:r>
              <a:rPr lang="en-US" altLang="ko-KR" sz="1800" dirty="0"/>
              <a:t> = true </a:t>
            </a:r>
            <a:r>
              <a:rPr lang="ko-KR" altLang="ko-KR" sz="1800" dirty="0"/>
              <a:t>와</a:t>
            </a:r>
            <a:r>
              <a:rPr lang="en-US" altLang="ko-KR" sz="1800" dirty="0"/>
              <a:t> </a:t>
            </a:r>
            <a:r>
              <a:rPr lang="en-US" altLang="ko-KR" sz="1800" dirty="0" err="1"/>
              <a:t>single_puzzle</a:t>
            </a:r>
            <a:r>
              <a:rPr lang="en-US" altLang="ko-KR" sz="1800" dirty="0"/>
              <a:t> = true </a:t>
            </a:r>
            <a:r>
              <a:rPr lang="ko-KR" altLang="ko-KR" sz="1800" dirty="0"/>
              <a:t>설정을 사용하면</a:t>
            </a:r>
            <a:br>
              <a:rPr lang="en-US" altLang="ko-KR" sz="1800" dirty="0"/>
            </a:br>
            <a:r>
              <a:rPr lang="ko-KR" altLang="ko-KR" sz="1800" dirty="0"/>
              <a:t>정답</a:t>
            </a:r>
            <a:r>
              <a:rPr lang="en-US" altLang="ko-KR" sz="1800" dirty="0"/>
              <a:t>(solution)</a:t>
            </a:r>
            <a:r>
              <a:rPr lang="ko-KR" altLang="ko-KR" sz="1800" dirty="0"/>
              <a:t>이 고정되고 퍼즐의 힌트 위치도 고정된다</a:t>
            </a:r>
            <a:r>
              <a:rPr lang="en-US" altLang="ko-KR" sz="1800" dirty="0"/>
              <a:t>.</a:t>
            </a:r>
            <a:br>
              <a:rPr lang="en-US" altLang="ko-KR" sz="1800" dirty="0"/>
            </a:br>
            <a:r>
              <a:rPr lang="ko-KR" altLang="ko-KR" sz="1800" dirty="0"/>
              <a:t>즉</a:t>
            </a:r>
            <a:r>
              <a:rPr lang="en-US" altLang="ko-KR" sz="1800" dirty="0"/>
              <a:t>, </a:t>
            </a:r>
            <a:r>
              <a:rPr lang="ko-KR" altLang="ko-KR" sz="1800" dirty="0"/>
              <a:t>에이전트는 </a:t>
            </a:r>
            <a:r>
              <a:rPr lang="ko-KR" altLang="ko-KR" sz="1800" b="1" dirty="0"/>
              <a:t>정확히 하나의 동일한 퍼즐을 무한히 반복해서 학습</a:t>
            </a:r>
            <a:r>
              <a:rPr lang="ko-KR" altLang="ko-KR" sz="1800" dirty="0"/>
              <a:t>하게 된다</a:t>
            </a:r>
            <a:endParaRPr lang="en-US" altLang="ko-KR" sz="1800" dirty="0"/>
          </a:p>
          <a:p>
            <a:pPr marL="0" indent="0">
              <a:buNone/>
            </a:pPr>
            <a:endParaRPr lang="en-US" altLang="ko-KR" sz="1800" dirty="0"/>
          </a:p>
          <a:p>
            <a:pPr marL="0" indent="0">
              <a:buNone/>
            </a:pPr>
            <a:r>
              <a:rPr lang="en-US" altLang="ko-KR" sz="1800" b="1" dirty="0"/>
              <a:t>(2) 4×4</a:t>
            </a:r>
            <a:r>
              <a:rPr lang="ko-KR" altLang="ko-KR" sz="1800" b="1" dirty="0"/>
              <a:t>와</a:t>
            </a:r>
            <a:r>
              <a:rPr lang="en-US" altLang="ko-KR" sz="1800" b="1" dirty="0"/>
              <a:t> 9×9</a:t>
            </a:r>
            <a:r>
              <a:rPr lang="ko-KR" altLang="ko-KR" sz="1800" b="1" dirty="0"/>
              <a:t>에서 명확하게 드러나는 차이</a:t>
            </a:r>
            <a:endParaRPr lang="ko-KR" altLang="ko-KR" sz="1800" dirty="0"/>
          </a:p>
          <a:p>
            <a:pPr marL="0" indent="0">
              <a:buNone/>
            </a:pPr>
            <a:r>
              <a:rPr lang="en-US" altLang="ko-KR" sz="1800" dirty="0"/>
              <a:t>4×4</a:t>
            </a:r>
            <a:r>
              <a:rPr lang="ko-KR" altLang="ko-KR" sz="1800" dirty="0"/>
              <a:t>에서는</a:t>
            </a:r>
            <a:r>
              <a:rPr lang="en-US" altLang="ko-KR" sz="1800" dirty="0"/>
              <a:t> action space</a:t>
            </a:r>
            <a:r>
              <a:rPr lang="ko-KR" altLang="ko-KR" sz="1800" dirty="0"/>
              <a:t>가 작아 단일 퍼즐 기반 학습도 충분히 안정적으로 진행된다</a:t>
            </a:r>
            <a:r>
              <a:rPr lang="en-US" altLang="ko-KR" sz="1800" dirty="0"/>
              <a:t>.</a:t>
            </a:r>
            <a:br>
              <a:rPr lang="en-US" altLang="ko-KR" sz="1800" dirty="0"/>
            </a:br>
            <a:r>
              <a:rPr lang="ko-KR" altLang="ko-KR" sz="1800" dirty="0"/>
              <a:t>하지만</a:t>
            </a:r>
            <a:r>
              <a:rPr lang="en-US" altLang="ko-KR" sz="1800" dirty="0"/>
              <a:t> 9×9</a:t>
            </a:r>
            <a:r>
              <a:rPr lang="ko-KR" altLang="ko-KR" sz="1800" dirty="0"/>
              <a:t>에서는</a:t>
            </a:r>
            <a:r>
              <a:rPr lang="en-US" altLang="ko-KR" sz="1800" dirty="0"/>
              <a:t>action </a:t>
            </a:r>
            <a:r>
              <a:rPr lang="ko-KR" altLang="ko-KR" sz="1800" dirty="0"/>
              <a:t>공간이</a:t>
            </a:r>
            <a:r>
              <a:rPr lang="en-US" altLang="ko-KR" sz="1800" dirty="0"/>
              <a:t> 729</a:t>
            </a:r>
            <a:r>
              <a:rPr lang="ko-KR" altLang="ko-KR" sz="1800" dirty="0"/>
              <a:t>로 폭발적으로 증가하고</a:t>
            </a:r>
            <a:r>
              <a:rPr lang="en-US" altLang="ko-KR" sz="1800" dirty="0"/>
              <a:t>reward sparsity</a:t>
            </a:r>
            <a:r>
              <a:rPr lang="ko-KR" altLang="ko-KR" sz="1800" dirty="0"/>
              <a:t>가 훨씬 심해지고 동일 퍼즐만 학습하는 경우에도 최적 정책을 안정적으로 찾기 어려움</a:t>
            </a:r>
          </a:p>
          <a:p>
            <a:pPr marL="0" indent="0">
              <a:buNone/>
            </a:pPr>
            <a:r>
              <a:rPr lang="ko-KR" altLang="ko-KR" sz="1800" dirty="0"/>
              <a:t>즉</a:t>
            </a:r>
            <a:r>
              <a:rPr lang="en-US" altLang="ko-KR" sz="1800" dirty="0"/>
              <a:t>, </a:t>
            </a:r>
            <a:r>
              <a:rPr lang="en-US" altLang="ko-KR" sz="1800" b="1" dirty="0"/>
              <a:t>‘</a:t>
            </a:r>
            <a:r>
              <a:rPr lang="ko-KR" altLang="ko-KR" sz="1800" b="1" dirty="0"/>
              <a:t>하나의 퍼즐만 푼다</a:t>
            </a:r>
            <a:r>
              <a:rPr lang="en-US" altLang="ko-KR" sz="1800" b="1" dirty="0"/>
              <a:t>’</a:t>
            </a:r>
            <a:r>
              <a:rPr lang="ko-KR" altLang="ko-KR" sz="1800" b="1" dirty="0"/>
              <a:t>는 가정조차</a:t>
            </a:r>
            <a:r>
              <a:rPr lang="en-US" altLang="ko-KR" sz="1800" b="1" dirty="0"/>
              <a:t> 9×9</a:t>
            </a:r>
            <a:r>
              <a:rPr lang="ko-KR" altLang="ko-KR" sz="1800" b="1" dirty="0"/>
              <a:t>에서는 강화학습 난이도를 크게 증가시킨다</a:t>
            </a:r>
            <a:r>
              <a:rPr lang="en-US" altLang="ko-KR" sz="1800" b="1" dirty="0"/>
              <a:t>.</a:t>
            </a:r>
            <a:endParaRPr lang="ko-KR" altLang="ko-KR" sz="1800" dirty="0"/>
          </a:p>
          <a:p>
            <a:pPr marL="0" indent="0">
              <a:buNone/>
            </a:pPr>
            <a:r>
              <a:rPr lang="ko-KR" altLang="ko-KR" sz="1800" dirty="0"/>
              <a:t>이로 인해</a:t>
            </a:r>
            <a:r>
              <a:rPr lang="en-US" altLang="ko-KR" sz="1800" dirty="0"/>
              <a:t>, 9×9 </a:t>
            </a:r>
            <a:r>
              <a:rPr lang="ko-KR" altLang="ko-KR" sz="1800" dirty="0"/>
              <a:t>실험에서는</a:t>
            </a:r>
            <a:r>
              <a:rPr lang="en-US" altLang="ko-KR" sz="1800" dirty="0"/>
              <a:t> generalization </a:t>
            </a:r>
            <a:r>
              <a:rPr lang="ko-KR" altLang="ko-KR" sz="1800" dirty="0"/>
              <a:t>문제가 아니라 </a:t>
            </a:r>
            <a:r>
              <a:rPr lang="ko-KR" altLang="ko-KR" sz="1800" b="1" dirty="0"/>
              <a:t>단일 퍼즐에 대한 수렴 자체가 어려운 문제</a:t>
            </a:r>
            <a:r>
              <a:rPr lang="ko-KR" altLang="ko-KR" sz="1800" dirty="0"/>
              <a:t>로 나타났다</a:t>
            </a:r>
            <a:r>
              <a:rPr lang="en-US" altLang="ko-KR" dirty="0"/>
              <a:t>.</a:t>
            </a:r>
            <a:endParaRPr lang="ko-KR" altLang="ko-KR" dirty="0"/>
          </a:p>
          <a:p>
            <a:pPr marL="0" indent="0">
              <a:buNone/>
            </a:pPr>
            <a:endParaRPr lang="ko-KR" altLang="ko-KR" sz="1200" dirty="0"/>
          </a:p>
        </p:txBody>
      </p:sp>
    </p:spTree>
    <p:extLst>
      <p:ext uri="{BB962C8B-B14F-4D97-AF65-F5344CB8AC3E}">
        <p14:creationId xmlns:p14="http://schemas.microsoft.com/office/powerpoint/2010/main" val="162380206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B21AD5-6B62-7578-5E55-20E44D25BC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>
            <a:extLst>
              <a:ext uri="{FF2B5EF4-FFF2-40B4-BE49-F238E27FC236}">
                <a16:creationId xmlns:a16="http://schemas.microsoft.com/office/drawing/2014/main" id="{985F0F6B-F21E-4EB9-EEC5-04032863E3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55695"/>
          </a:xfrm>
        </p:spPr>
        <p:txBody>
          <a:bodyPr>
            <a:normAutofit/>
          </a:bodyPr>
          <a:lstStyle/>
          <a:p>
            <a:r>
              <a:rPr lang="en-US" altLang="ko-KR" b="1" dirty="0"/>
              <a:t>6. </a:t>
            </a:r>
            <a:r>
              <a:rPr lang="ko-KR" altLang="ko-KR" b="1" dirty="0"/>
              <a:t>토의 및 결론 </a:t>
            </a:r>
            <a:endParaRPr lang="ko-KR" altLang="ko-KR" dirty="0"/>
          </a:p>
        </p:txBody>
      </p:sp>
      <p:sp>
        <p:nvSpPr>
          <p:cNvPr id="2" name="슬라이드 번호 개체 틀 4">
            <a:extLst>
              <a:ext uri="{FF2B5EF4-FFF2-40B4-BE49-F238E27FC236}">
                <a16:creationId xmlns:a16="http://schemas.microsoft.com/office/drawing/2014/main" id="{30083BEF-A5A6-15EC-D4DC-E60972FD8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167768A3-AC29-4B30-B97D-8EE275BA7DF4}" type="slidenum">
              <a:rPr lang="ko-KR" altLang="en-US" smtClean="0"/>
              <a:t>28</a:t>
            </a:fld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6854A24-86F0-F1DE-CC90-EB3D166484B2}"/>
              </a:ext>
            </a:extLst>
          </p:cNvPr>
          <p:cNvSpPr txBox="1">
            <a:spLocks/>
          </p:cNvSpPr>
          <p:nvPr/>
        </p:nvSpPr>
        <p:spPr>
          <a:xfrm>
            <a:off x="2014" y="850651"/>
            <a:ext cx="12103510" cy="592771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1600" dirty="0">
              <a:solidFill>
                <a:schemeClr val="tx1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ko-KR" sz="1600" dirty="0">
              <a:solidFill>
                <a:schemeClr val="tx1"/>
              </a:solidFill>
            </a:endParaRP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0DD6D99B-563E-46F4-E47A-7C6F362DD7E9}"/>
              </a:ext>
            </a:extLst>
          </p:cNvPr>
          <p:cNvSpPr txBox="1">
            <a:spLocks/>
          </p:cNvSpPr>
          <p:nvPr/>
        </p:nvSpPr>
        <p:spPr>
          <a:xfrm>
            <a:off x="86476" y="865891"/>
            <a:ext cx="12103510" cy="592771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800" b="1" dirty="0"/>
              <a:t>(3) </a:t>
            </a:r>
            <a:r>
              <a:rPr lang="ko-KR" altLang="ko-KR" sz="1800" b="1" dirty="0"/>
              <a:t>하나의 모델</a:t>
            </a:r>
            <a:r>
              <a:rPr lang="en-US" altLang="ko-KR" sz="1800" b="1" dirty="0"/>
              <a:t>/</a:t>
            </a:r>
            <a:r>
              <a:rPr lang="ko-KR" altLang="ko-KR" sz="1800" b="1" dirty="0"/>
              <a:t>하나의 파라미터로 모든 케이스를 해결하려 했던 점</a:t>
            </a:r>
            <a:endParaRPr lang="ko-KR" altLang="ko-KR" sz="1800" dirty="0"/>
          </a:p>
          <a:p>
            <a:pPr marL="0" indent="0">
              <a:buNone/>
            </a:pPr>
            <a:r>
              <a:rPr lang="ko-KR" altLang="ko-KR" sz="1800" dirty="0"/>
              <a:t>본 연구에서는 편의상</a:t>
            </a:r>
            <a:r>
              <a:rPr lang="en-US" altLang="ko-KR" sz="1800" dirty="0"/>
              <a:t>:</a:t>
            </a:r>
            <a:endParaRPr lang="ko-KR" altLang="ko-KR" sz="1800" dirty="0"/>
          </a:p>
          <a:p>
            <a:r>
              <a:rPr lang="ko-KR" altLang="ko-KR" sz="1400" dirty="0"/>
              <a:t>특정</a:t>
            </a:r>
            <a:r>
              <a:rPr lang="en-US" altLang="ko-KR" sz="1400" dirty="0"/>
              <a:t> GNN </a:t>
            </a:r>
            <a:r>
              <a:rPr lang="ko-KR" altLang="ko-KR" sz="1400" dirty="0"/>
              <a:t>크기</a:t>
            </a:r>
          </a:p>
          <a:p>
            <a:r>
              <a:rPr lang="ko-KR" altLang="ko-KR" sz="1400" dirty="0"/>
              <a:t>특정</a:t>
            </a:r>
            <a:r>
              <a:rPr lang="en-US" altLang="ko-KR" sz="1400" dirty="0"/>
              <a:t> rollout </a:t>
            </a:r>
            <a:r>
              <a:rPr lang="ko-KR" altLang="ko-KR" sz="1400" dirty="0"/>
              <a:t>길이</a:t>
            </a:r>
          </a:p>
          <a:p>
            <a:r>
              <a:rPr lang="ko-KR" altLang="ko-KR" sz="1400" dirty="0"/>
              <a:t>특정</a:t>
            </a:r>
            <a:r>
              <a:rPr lang="en-US" altLang="ko-KR" sz="1400" dirty="0"/>
              <a:t> entropy </a:t>
            </a:r>
            <a:r>
              <a:rPr lang="ko-KR" altLang="ko-KR" sz="1400" dirty="0"/>
              <a:t>계수</a:t>
            </a:r>
            <a:r>
              <a:rPr lang="en-US" altLang="ko-KR" sz="1400" dirty="0"/>
              <a:t>·learning rate</a:t>
            </a:r>
            <a:endParaRPr lang="ko-KR" altLang="ko-KR" sz="1400" dirty="0"/>
          </a:p>
          <a:p>
            <a:r>
              <a:rPr lang="ko-KR" altLang="ko-KR" sz="1400" dirty="0"/>
              <a:t>단일 게임 난이도</a:t>
            </a:r>
          </a:p>
          <a:p>
            <a:r>
              <a:rPr lang="ko-KR" altLang="ko-KR" sz="1400" dirty="0"/>
              <a:t>단일 퍼즐 구조</a:t>
            </a:r>
          </a:p>
          <a:p>
            <a:pPr marL="0" indent="0">
              <a:buNone/>
            </a:pPr>
            <a:r>
              <a:rPr lang="ko-KR" altLang="ko-KR" sz="1800" dirty="0"/>
              <a:t>로 통일된 설정을 적용했다</a:t>
            </a:r>
            <a:r>
              <a:rPr lang="en-US" altLang="ko-KR" sz="1800" dirty="0"/>
              <a:t>.</a:t>
            </a:r>
            <a:endParaRPr lang="ko-KR" altLang="ko-KR" sz="1800" dirty="0"/>
          </a:p>
          <a:p>
            <a:pPr marL="0" indent="0">
              <a:buNone/>
            </a:pPr>
            <a:r>
              <a:rPr lang="ko-KR" altLang="ko-KR" sz="1800" dirty="0"/>
              <a:t>하지만 현실적으로는 문제 규모</a:t>
            </a:r>
            <a:r>
              <a:rPr lang="en-US" altLang="ko-KR" sz="1800" dirty="0"/>
              <a:t>(4×4 vs 9×9)</a:t>
            </a:r>
            <a:r>
              <a:rPr lang="ko-KR" altLang="ko-KR" sz="1800" dirty="0"/>
              <a:t>나 퍼즐 구성의 다양성에 </a:t>
            </a:r>
            <a:r>
              <a:rPr lang="ko-KR" altLang="ko-KR" sz="1800" dirty="0" err="1"/>
              <a:t>따라각기</a:t>
            </a:r>
            <a:r>
              <a:rPr lang="ko-KR" altLang="ko-KR" sz="1800" dirty="0"/>
              <a:t> 다른 모델 구조와 파라미터 세트가 필요하다</a:t>
            </a:r>
            <a:r>
              <a:rPr lang="en-US" altLang="ko-KR" sz="1800" dirty="0"/>
              <a:t>. </a:t>
            </a:r>
            <a:r>
              <a:rPr lang="ko-KR" altLang="ko-KR" sz="1800" dirty="0"/>
              <a:t>이번 실험에서는 이러한 차이를 무시하고 단일 모델로 실험했기 때문에 </a:t>
            </a:r>
            <a:r>
              <a:rPr lang="en-US" altLang="ko-KR" sz="1800" dirty="0"/>
              <a:t>9×9</a:t>
            </a:r>
            <a:r>
              <a:rPr lang="ko-KR" altLang="ko-KR" sz="1800" dirty="0"/>
              <a:t>에서의 불안정성 및 성능 저하가 더욱 두드러졌다고 볼 수 있다</a:t>
            </a:r>
            <a:r>
              <a:rPr lang="en-US" altLang="ko-KR" sz="1800" dirty="0"/>
              <a:t>.</a:t>
            </a:r>
            <a:endParaRPr lang="ko-KR" altLang="ko-KR" sz="1800" dirty="0"/>
          </a:p>
        </p:txBody>
      </p:sp>
    </p:spTree>
    <p:extLst>
      <p:ext uri="{BB962C8B-B14F-4D97-AF65-F5344CB8AC3E}">
        <p14:creationId xmlns:p14="http://schemas.microsoft.com/office/powerpoint/2010/main" val="201719604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1BC122-32E9-08D7-69AF-FBD6E2C724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>
            <a:extLst>
              <a:ext uri="{FF2B5EF4-FFF2-40B4-BE49-F238E27FC236}">
                <a16:creationId xmlns:a16="http://schemas.microsoft.com/office/drawing/2014/main" id="{4FDC8BDE-86C5-1323-03B6-C585BEC8D6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55695"/>
          </a:xfrm>
        </p:spPr>
        <p:txBody>
          <a:bodyPr>
            <a:normAutofit/>
          </a:bodyPr>
          <a:lstStyle/>
          <a:p>
            <a:r>
              <a:rPr lang="en-US" altLang="ko-KR" b="1" dirty="0"/>
              <a:t>6. </a:t>
            </a:r>
            <a:r>
              <a:rPr lang="ko-KR" altLang="ko-KR" b="1" dirty="0"/>
              <a:t>토의 및 결론</a:t>
            </a:r>
            <a:endParaRPr lang="en-US" altLang="ko-KR" sz="1800" dirty="0">
              <a:solidFill>
                <a:schemeClr val="tx1"/>
              </a:solidFill>
            </a:endParaRPr>
          </a:p>
        </p:txBody>
      </p:sp>
      <p:sp>
        <p:nvSpPr>
          <p:cNvPr id="2" name="슬라이드 번호 개체 틀 4">
            <a:extLst>
              <a:ext uri="{FF2B5EF4-FFF2-40B4-BE49-F238E27FC236}">
                <a16:creationId xmlns:a16="http://schemas.microsoft.com/office/drawing/2014/main" id="{091404A7-A705-5A04-30BF-809C1804A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167768A3-AC29-4B30-B97D-8EE275BA7DF4}" type="slidenum">
              <a:rPr lang="ko-KR" altLang="en-US" smtClean="0"/>
              <a:t>29</a:t>
            </a:fld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0B915FD-E09E-E2E4-EBF9-3404526D0B3F}"/>
              </a:ext>
            </a:extLst>
          </p:cNvPr>
          <p:cNvSpPr txBox="1">
            <a:spLocks/>
          </p:cNvSpPr>
          <p:nvPr/>
        </p:nvSpPr>
        <p:spPr>
          <a:xfrm>
            <a:off x="2014" y="850651"/>
            <a:ext cx="12103510" cy="592771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1600" dirty="0">
              <a:solidFill>
                <a:schemeClr val="tx1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ko-KR" sz="1600" dirty="0">
              <a:solidFill>
                <a:schemeClr val="tx1"/>
              </a:solidFill>
            </a:endParaRP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77D97F7E-D307-6479-1E87-2C09CDCA7852}"/>
              </a:ext>
            </a:extLst>
          </p:cNvPr>
          <p:cNvSpPr txBox="1">
            <a:spLocks/>
          </p:cNvSpPr>
          <p:nvPr/>
        </p:nvSpPr>
        <p:spPr>
          <a:xfrm>
            <a:off x="86476" y="865891"/>
            <a:ext cx="12103510" cy="592771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sz="1800" dirty="0"/>
              <a:t>개선사항</a:t>
            </a:r>
            <a:endParaRPr lang="ko-KR" altLang="ko-KR" sz="1800" dirty="0"/>
          </a:p>
          <a:p>
            <a:pPr marL="0" indent="0">
              <a:buNone/>
            </a:pPr>
            <a:r>
              <a:rPr lang="en-US" altLang="ko-KR" sz="1800" b="1" dirty="0"/>
              <a:t>(1) </a:t>
            </a:r>
            <a:r>
              <a:rPr lang="ko-KR" altLang="ko-KR" sz="1800" b="1" dirty="0"/>
              <a:t>퍼즐 다양화로</a:t>
            </a:r>
            <a:r>
              <a:rPr lang="en-US" altLang="ko-KR" sz="1800" b="1" dirty="0"/>
              <a:t> generalization </a:t>
            </a:r>
            <a:r>
              <a:rPr lang="ko-KR" altLang="ko-KR" sz="1800" b="1" dirty="0"/>
              <a:t>테스트</a:t>
            </a:r>
            <a:endParaRPr lang="ko-KR" altLang="ko-KR" sz="1800" dirty="0"/>
          </a:p>
          <a:p>
            <a:pPr marL="0" lvl="0" indent="0">
              <a:buNone/>
            </a:pPr>
            <a:r>
              <a:rPr lang="ko-KR" altLang="ko-KR" sz="1800" dirty="0"/>
              <a:t>서로 다른 정답 패턴의 </a:t>
            </a:r>
            <a:r>
              <a:rPr lang="ko-KR" altLang="ko-KR" sz="1800" dirty="0" err="1"/>
              <a:t>스도쿠</a:t>
            </a:r>
            <a:r>
              <a:rPr lang="ko-KR" altLang="ko-KR" sz="1800" dirty="0"/>
              <a:t> 데이터 생성</a:t>
            </a:r>
          </a:p>
          <a:p>
            <a:pPr marL="0" lvl="0" indent="0">
              <a:buNone/>
            </a:pPr>
            <a:r>
              <a:rPr lang="ko-KR" altLang="ko-KR" sz="1800" dirty="0"/>
              <a:t>실제 </a:t>
            </a:r>
            <a:r>
              <a:rPr lang="ko-KR" altLang="ko-KR" sz="1800" dirty="0" err="1"/>
              <a:t>스도쿠</a:t>
            </a:r>
            <a:r>
              <a:rPr lang="ko-KR" altLang="ko-KR" sz="1800" dirty="0"/>
              <a:t> 난이도별 퍼즐 도입</a:t>
            </a:r>
          </a:p>
          <a:p>
            <a:pPr marL="0" lvl="0" indent="0">
              <a:buNone/>
            </a:pPr>
            <a:r>
              <a:rPr lang="en-US" altLang="ko-KR" sz="1800" dirty="0"/>
              <a:t>permutation</a:t>
            </a:r>
            <a:r>
              <a:rPr lang="ko-KR" altLang="ko-KR" sz="1800" dirty="0"/>
              <a:t>이 아닌 완전 랜덤</a:t>
            </a:r>
            <a:r>
              <a:rPr lang="en-US" altLang="ko-KR" sz="1800" dirty="0"/>
              <a:t> valid </a:t>
            </a:r>
            <a:r>
              <a:rPr lang="ko-KR" altLang="ko-KR" sz="1800" dirty="0" err="1"/>
              <a:t>스도쿠</a:t>
            </a:r>
            <a:r>
              <a:rPr lang="ko-KR" altLang="ko-KR" sz="1800" dirty="0"/>
              <a:t> </a:t>
            </a:r>
            <a:r>
              <a:rPr lang="ko-KR" altLang="ko-KR" sz="1800" dirty="0" err="1"/>
              <a:t>생성기</a:t>
            </a:r>
            <a:r>
              <a:rPr lang="ko-KR" altLang="ko-KR" sz="1800" dirty="0"/>
              <a:t> 사용</a:t>
            </a:r>
          </a:p>
          <a:p>
            <a:pPr marL="0" lvl="0" indent="0">
              <a:buNone/>
            </a:pPr>
            <a:r>
              <a:rPr lang="en-US" altLang="ko-KR" sz="1800" dirty="0"/>
              <a:t>9×9</a:t>
            </a:r>
            <a:r>
              <a:rPr lang="ko-KR" altLang="ko-KR" sz="1800" dirty="0"/>
              <a:t>에서는 다양한</a:t>
            </a:r>
            <a:r>
              <a:rPr lang="en-US" altLang="ko-KR" sz="1800" dirty="0"/>
              <a:t> givens </a:t>
            </a:r>
            <a:r>
              <a:rPr lang="ko-KR" altLang="ko-KR" sz="1800" dirty="0"/>
              <a:t>수와 난이도 분포 고려</a:t>
            </a:r>
          </a:p>
          <a:p>
            <a:pPr marL="0" indent="0">
              <a:buNone/>
            </a:pPr>
            <a:r>
              <a:rPr lang="ko-KR" altLang="ko-KR" sz="1800" dirty="0"/>
              <a:t>이를 통해 에이전트가 </a:t>
            </a:r>
            <a:r>
              <a:rPr lang="ko-KR" altLang="ko-KR" sz="1800" b="1" dirty="0" err="1"/>
              <a:t>스도쿠</a:t>
            </a:r>
            <a:r>
              <a:rPr lang="ko-KR" altLang="ko-KR" sz="1800" b="1" dirty="0"/>
              <a:t> 구조 자체를 학습</a:t>
            </a:r>
            <a:r>
              <a:rPr lang="ko-KR" altLang="ko-KR" sz="1800" dirty="0"/>
              <a:t>하도록 유도할 수 있다</a:t>
            </a:r>
            <a:r>
              <a:rPr lang="en-US" altLang="ko-KR" sz="1800" dirty="0"/>
              <a:t>.</a:t>
            </a:r>
            <a:endParaRPr lang="ko-KR" altLang="ko-KR" sz="1800" dirty="0"/>
          </a:p>
        </p:txBody>
      </p:sp>
    </p:spTree>
    <p:extLst>
      <p:ext uri="{BB962C8B-B14F-4D97-AF65-F5344CB8AC3E}">
        <p14:creationId xmlns:p14="http://schemas.microsoft.com/office/powerpoint/2010/main" val="207965828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54E720-4C09-5BA5-27DE-A27A47D628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>
            <a:extLst>
              <a:ext uri="{FF2B5EF4-FFF2-40B4-BE49-F238E27FC236}">
                <a16:creationId xmlns:a16="http://schemas.microsoft.com/office/drawing/2014/main" id="{460293A2-3781-26D4-CD71-00D30C48CE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55695"/>
          </a:xfrm>
        </p:spPr>
        <p:txBody>
          <a:bodyPr>
            <a:normAutofit/>
          </a:bodyPr>
          <a:lstStyle/>
          <a:p>
            <a:r>
              <a:rPr lang="en-US" altLang="ko-KR" b="1" dirty="0"/>
              <a:t>6. </a:t>
            </a:r>
            <a:r>
              <a:rPr lang="ko-KR" altLang="ko-KR" b="1" dirty="0"/>
              <a:t>토의 및 결론</a:t>
            </a:r>
            <a:endParaRPr lang="en-US" altLang="ko-KR" sz="1800" dirty="0">
              <a:solidFill>
                <a:schemeClr val="tx1"/>
              </a:solidFill>
            </a:endParaRPr>
          </a:p>
        </p:txBody>
      </p:sp>
      <p:sp>
        <p:nvSpPr>
          <p:cNvPr id="2" name="슬라이드 번호 개체 틀 4">
            <a:extLst>
              <a:ext uri="{FF2B5EF4-FFF2-40B4-BE49-F238E27FC236}">
                <a16:creationId xmlns:a16="http://schemas.microsoft.com/office/drawing/2014/main" id="{E5B670D7-E443-0F49-FF0B-C42F2006C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167768A3-AC29-4B30-B97D-8EE275BA7DF4}" type="slidenum">
              <a:rPr lang="ko-KR" altLang="en-US" smtClean="0"/>
              <a:t>30</a:t>
            </a:fld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5085903-8A0A-80D9-CF0A-96E86DD2C090}"/>
              </a:ext>
            </a:extLst>
          </p:cNvPr>
          <p:cNvSpPr txBox="1">
            <a:spLocks/>
          </p:cNvSpPr>
          <p:nvPr/>
        </p:nvSpPr>
        <p:spPr>
          <a:xfrm>
            <a:off x="2014" y="850651"/>
            <a:ext cx="12103510" cy="592771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1600" dirty="0">
              <a:solidFill>
                <a:schemeClr val="tx1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ko-KR" sz="1600" dirty="0">
              <a:solidFill>
                <a:schemeClr val="tx1"/>
              </a:solidFill>
            </a:endParaRP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4613FDAC-BE16-22D4-B733-90622DED354E}"/>
              </a:ext>
            </a:extLst>
          </p:cNvPr>
          <p:cNvSpPr txBox="1">
            <a:spLocks/>
          </p:cNvSpPr>
          <p:nvPr/>
        </p:nvSpPr>
        <p:spPr>
          <a:xfrm>
            <a:off x="86476" y="865891"/>
            <a:ext cx="12103510" cy="592771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800" dirty="0"/>
              <a:t> </a:t>
            </a:r>
            <a:r>
              <a:rPr lang="en-US" altLang="ko-KR" sz="1800" b="1" dirty="0"/>
              <a:t>(2) GNN </a:t>
            </a:r>
            <a:r>
              <a:rPr lang="ko-KR" altLang="ko-KR" sz="1800" b="1" dirty="0"/>
              <a:t>구조 확장</a:t>
            </a:r>
            <a:endParaRPr lang="ko-KR" altLang="ko-KR" sz="1800" dirty="0"/>
          </a:p>
          <a:p>
            <a:pPr marL="0" indent="0">
              <a:buNone/>
            </a:pPr>
            <a:r>
              <a:rPr lang="ko-KR" altLang="ko-KR" sz="1800" dirty="0"/>
              <a:t>현재의</a:t>
            </a:r>
            <a:r>
              <a:rPr lang="en-US" altLang="ko-KR" sz="1800" dirty="0"/>
              <a:t> GCN</a:t>
            </a:r>
            <a:r>
              <a:rPr lang="ko-KR" altLang="ko-KR" sz="1800" dirty="0"/>
              <a:t>은 단순 구조로</a:t>
            </a:r>
            <a:r>
              <a:rPr lang="en-US" altLang="ko-KR" sz="1800" dirty="0"/>
              <a:t>, relational constraint</a:t>
            </a:r>
            <a:r>
              <a:rPr lang="ko-KR" altLang="ko-KR" sz="1800" dirty="0"/>
              <a:t>를 충분히 포착하지 못한다</a:t>
            </a:r>
            <a:r>
              <a:rPr lang="en-US" altLang="ko-KR" sz="1800" dirty="0"/>
              <a:t>.</a:t>
            </a:r>
            <a:br>
              <a:rPr lang="en-US" altLang="ko-KR" sz="1800" dirty="0"/>
            </a:br>
            <a:r>
              <a:rPr lang="ko-KR" altLang="ko-KR" sz="1800" dirty="0"/>
              <a:t>향후에는 다음과 같은</a:t>
            </a:r>
            <a:r>
              <a:rPr lang="en-US" altLang="ko-KR" sz="1800" dirty="0"/>
              <a:t> GNN</a:t>
            </a:r>
            <a:r>
              <a:rPr lang="ko-KR" altLang="ko-KR" sz="1800" dirty="0"/>
              <a:t>을 고려할 수 있다</a:t>
            </a:r>
          </a:p>
          <a:p>
            <a:r>
              <a:rPr lang="en-US" altLang="ko-KR" sz="1800" dirty="0"/>
              <a:t>Graph Attention Network (GAT)</a:t>
            </a:r>
            <a:endParaRPr lang="ko-KR" altLang="ko-KR" sz="1800" dirty="0"/>
          </a:p>
          <a:p>
            <a:r>
              <a:rPr lang="en-US" altLang="ko-KR" sz="1800" dirty="0"/>
              <a:t>MPNN </a:t>
            </a:r>
            <a:r>
              <a:rPr lang="ko-KR" altLang="ko-KR" sz="1800" dirty="0"/>
              <a:t>기반</a:t>
            </a:r>
            <a:r>
              <a:rPr lang="en-US" altLang="ko-KR" sz="1800" dirty="0"/>
              <a:t> constraint message passing</a:t>
            </a:r>
            <a:endParaRPr lang="ko-KR" altLang="ko-KR" sz="1800" dirty="0"/>
          </a:p>
          <a:p>
            <a:r>
              <a:rPr lang="en-US" altLang="ko-KR" sz="1800" dirty="0"/>
              <a:t>Transformer-based graph encoder</a:t>
            </a:r>
            <a:endParaRPr lang="ko-KR" altLang="ko-KR" sz="1800" dirty="0"/>
          </a:p>
          <a:p>
            <a:r>
              <a:rPr lang="en-US" altLang="ko-KR" sz="1800" dirty="0"/>
              <a:t>row/col/block hierarchy</a:t>
            </a:r>
            <a:r>
              <a:rPr lang="ko-KR" altLang="ko-KR" sz="1800" dirty="0"/>
              <a:t>를 반영한</a:t>
            </a:r>
            <a:r>
              <a:rPr lang="en-US" altLang="ko-KR" sz="1800" dirty="0"/>
              <a:t> multi-level GNN</a:t>
            </a:r>
            <a:endParaRPr lang="ko-KR" altLang="ko-KR" sz="1800" dirty="0"/>
          </a:p>
          <a:p>
            <a:pPr marL="0" indent="0">
              <a:buNone/>
            </a:pPr>
            <a:r>
              <a:rPr lang="ko-KR" altLang="ko-KR" sz="1800" dirty="0"/>
              <a:t>특히 </a:t>
            </a:r>
            <a:r>
              <a:rPr lang="ko-KR" altLang="ko-KR" sz="1800" dirty="0" err="1"/>
              <a:t>스도쿠는</a:t>
            </a:r>
            <a:r>
              <a:rPr lang="en-US" altLang="ko-KR" sz="1800" dirty="0"/>
              <a:t> global constraint</a:t>
            </a:r>
            <a:r>
              <a:rPr lang="ko-KR" altLang="ko-KR" sz="1800" dirty="0"/>
              <a:t>가 강하기 때문에</a:t>
            </a:r>
            <a:r>
              <a:rPr lang="en-US" altLang="ko-KR" sz="1800" dirty="0"/>
              <a:t> attention </a:t>
            </a:r>
            <a:r>
              <a:rPr lang="ko-KR" altLang="ko-KR" sz="1800" dirty="0"/>
              <a:t>기반 모델이 더 적합할 가능성이 높다</a:t>
            </a:r>
            <a:r>
              <a:rPr lang="en-US" altLang="ko-KR" sz="1800" dirty="0"/>
              <a:t>.</a:t>
            </a:r>
            <a:endParaRPr lang="ko-KR" altLang="ko-KR" sz="1800" dirty="0"/>
          </a:p>
          <a:p>
            <a:pPr marL="0" indent="0">
              <a:buNone/>
            </a:pPr>
            <a:r>
              <a:rPr lang="en-US" altLang="ko-KR" sz="1800" dirty="0"/>
              <a:t> </a:t>
            </a:r>
            <a:endParaRPr lang="ko-KR" altLang="ko-KR" sz="1800" dirty="0"/>
          </a:p>
        </p:txBody>
      </p:sp>
    </p:spTree>
    <p:extLst>
      <p:ext uri="{BB962C8B-B14F-4D97-AF65-F5344CB8AC3E}">
        <p14:creationId xmlns:p14="http://schemas.microsoft.com/office/powerpoint/2010/main" val="5506364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188265-A569-3EA3-1B27-E5F322CB16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>
            <a:extLst>
              <a:ext uri="{FF2B5EF4-FFF2-40B4-BE49-F238E27FC236}">
                <a16:creationId xmlns:a16="http://schemas.microsoft.com/office/drawing/2014/main" id="{13C2FB64-78DD-09ED-17A8-704294B65B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55695"/>
          </a:xfrm>
        </p:spPr>
        <p:txBody>
          <a:bodyPr>
            <a:normAutofit/>
          </a:bodyPr>
          <a:lstStyle/>
          <a:p>
            <a:r>
              <a:rPr lang="en-US" altLang="ko-KR" b="1" dirty="0"/>
              <a:t>6. </a:t>
            </a:r>
            <a:r>
              <a:rPr lang="ko-KR" altLang="ko-KR" b="1" dirty="0"/>
              <a:t>토의 및 결론</a:t>
            </a:r>
            <a:endParaRPr lang="en-US" altLang="ko-KR" sz="1800" dirty="0">
              <a:solidFill>
                <a:schemeClr val="tx1"/>
              </a:solidFill>
            </a:endParaRPr>
          </a:p>
        </p:txBody>
      </p:sp>
      <p:sp>
        <p:nvSpPr>
          <p:cNvPr id="2" name="슬라이드 번호 개체 틀 4">
            <a:extLst>
              <a:ext uri="{FF2B5EF4-FFF2-40B4-BE49-F238E27FC236}">
                <a16:creationId xmlns:a16="http://schemas.microsoft.com/office/drawing/2014/main" id="{19DCDA20-E3A8-0D7A-6FAB-A4CFAD594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167768A3-AC29-4B30-B97D-8EE275BA7DF4}" type="slidenum">
              <a:rPr lang="ko-KR" altLang="en-US" smtClean="0"/>
              <a:t>31</a:t>
            </a:fld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9BF9710-53FC-61F7-2759-D583BE954D62}"/>
              </a:ext>
            </a:extLst>
          </p:cNvPr>
          <p:cNvSpPr txBox="1">
            <a:spLocks/>
          </p:cNvSpPr>
          <p:nvPr/>
        </p:nvSpPr>
        <p:spPr>
          <a:xfrm>
            <a:off x="2014" y="850651"/>
            <a:ext cx="12103510" cy="592771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1600" dirty="0">
              <a:solidFill>
                <a:schemeClr val="tx1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ko-KR" sz="1600" dirty="0">
              <a:solidFill>
                <a:schemeClr val="tx1"/>
              </a:solidFill>
            </a:endParaRP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59D7E78B-5168-D8C3-272C-5FFD0BCE17C0}"/>
              </a:ext>
            </a:extLst>
          </p:cNvPr>
          <p:cNvSpPr txBox="1">
            <a:spLocks/>
          </p:cNvSpPr>
          <p:nvPr/>
        </p:nvSpPr>
        <p:spPr>
          <a:xfrm>
            <a:off x="86476" y="865891"/>
            <a:ext cx="12103510" cy="592771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800" b="1" dirty="0"/>
              <a:t>(3) </a:t>
            </a:r>
            <a:r>
              <a:rPr lang="ko-KR" altLang="ko-KR" sz="1800" b="1" dirty="0"/>
              <a:t>강화학습 알고리즘 개선</a:t>
            </a:r>
            <a:endParaRPr lang="ko-KR" altLang="ko-KR" sz="1800" dirty="0"/>
          </a:p>
          <a:p>
            <a:pPr marL="0" indent="0">
              <a:buNone/>
            </a:pPr>
            <a:r>
              <a:rPr lang="ko-KR" altLang="ko-KR" sz="1800" dirty="0"/>
              <a:t>본 실험은</a:t>
            </a:r>
            <a:r>
              <a:rPr lang="en-US" altLang="ko-KR" sz="1800" dirty="0"/>
              <a:t> PPO</a:t>
            </a:r>
            <a:r>
              <a:rPr lang="ko-KR" altLang="ko-KR" sz="1800" dirty="0"/>
              <a:t>만으로 진행되었지만</a:t>
            </a:r>
            <a:r>
              <a:rPr lang="en-US" altLang="ko-KR" sz="1800" dirty="0"/>
              <a:t>, </a:t>
            </a:r>
            <a:r>
              <a:rPr lang="ko-KR" altLang="ko-KR" sz="1800" dirty="0" err="1"/>
              <a:t>스도쿠는</a:t>
            </a:r>
            <a:r>
              <a:rPr lang="en-US" altLang="ko-KR" sz="1800" dirty="0"/>
              <a:t> reward sparsity</a:t>
            </a:r>
            <a:r>
              <a:rPr lang="ko-KR" altLang="ko-KR" sz="1800" dirty="0"/>
              <a:t>가 매우 크기 때문에</a:t>
            </a:r>
            <a:br>
              <a:rPr lang="en-US" altLang="ko-KR" sz="1800" dirty="0"/>
            </a:br>
            <a:r>
              <a:rPr lang="ko-KR" altLang="ko-KR" sz="1800" dirty="0"/>
              <a:t>다음 방법이 더 적합할 수 있다</a:t>
            </a:r>
          </a:p>
          <a:p>
            <a:r>
              <a:rPr lang="en-US" altLang="ko-KR" sz="1800" dirty="0"/>
              <a:t>AlphaZero </a:t>
            </a:r>
            <a:r>
              <a:rPr lang="ko-KR" altLang="ko-KR" sz="1800" dirty="0"/>
              <a:t>스타일의</a:t>
            </a:r>
            <a:r>
              <a:rPr lang="en-US" altLang="ko-KR" sz="1800" dirty="0"/>
              <a:t> MCTS + </a:t>
            </a:r>
            <a:r>
              <a:rPr lang="ko-KR" altLang="ko-KR" sz="1800" dirty="0"/>
              <a:t>정책</a:t>
            </a:r>
            <a:r>
              <a:rPr lang="en-US" altLang="ko-KR" sz="1800" dirty="0"/>
              <a:t>·</a:t>
            </a:r>
            <a:r>
              <a:rPr lang="ko-KR" altLang="ko-KR" sz="1800" dirty="0"/>
              <a:t>가치 네트워크</a:t>
            </a:r>
          </a:p>
          <a:p>
            <a:r>
              <a:rPr lang="en-US" altLang="ko-KR" sz="1800" dirty="0"/>
              <a:t>Imitation Learning + RL Fine-tuning</a:t>
            </a:r>
            <a:endParaRPr lang="ko-KR" altLang="ko-KR" sz="1800" dirty="0"/>
          </a:p>
          <a:p>
            <a:r>
              <a:rPr lang="en-US" altLang="ko-KR" sz="1800" dirty="0"/>
              <a:t>Curriculum learning</a:t>
            </a:r>
            <a:br>
              <a:rPr lang="en-US" altLang="ko-KR" sz="1800" dirty="0"/>
            </a:br>
            <a:r>
              <a:rPr lang="en-US" altLang="ko-KR" sz="1800" dirty="0"/>
              <a:t>(4×4 → </a:t>
            </a:r>
            <a:r>
              <a:rPr lang="ko-KR" altLang="ko-KR" sz="1800" dirty="0"/>
              <a:t>쉬운</a:t>
            </a:r>
            <a:r>
              <a:rPr lang="en-US" altLang="ko-KR" sz="1800" dirty="0"/>
              <a:t> 9×9 → </a:t>
            </a:r>
            <a:r>
              <a:rPr lang="ko-KR" altLang="ko-KR" sz="1800" dirty="0"/>
              <a:t>어려운</a:t>
            </a:r>
            <a:r>
              <a:rPr lang="en-US" altLang="ko-KR" sz="1800" dirty="0"/>
              <a:t> 9×9 </a:t>
            </a:r>
            <a:r>
              <a:rPr lang="ko-KR" altLang="ko-KR" sz="1800" dirty="0"/>
              <a:t>순차 학습</a:t>
            </a:r>
            <a:r>
              <a:rPr lang="en-US" altLang="ko-KR" sz="1800" dirty="0"/>
              <a:t>)</a:t>
            </a:r>
            <a:endParaRPr lang="ko-KR" altLang="ko-KR" sz="1800" dirty="0"/>
          </a:p>
          <a:p>
            <a:r>
              <a:rPr lang="en-US" altLang="ko-KR" sz="1800" dirty="0"/>
              <a:t>Model-based RL (Dreamer </a:t>
            </a:r>
            <a:r>
              <a:rPr lang="ko-KR" altLang="ko-KR" sz="1800" dirty="0"/>
              <a:t>등</a:t>
            </a:r>
            <a:r>
              <a:rPr lang="en-US" altLang="ko-KR" sz="1800" dirty="0"/>
              <a:t>)</a:t>
            </a:r>
            <a:endParaRPr lang="ko-KR" altLang="ko-KR" sz="1800" dirty="0"/>
          </a:p>
          <a:p>
            <a:pPr marL="0" indent="0">
              <a:buNone/>
            </a:pPr>
            <a:r>
              <a:rPr lang="ko-KR" altLang="ko-KR" sz="1800" dirty="0"/>
              <a:t>이들 방식은</a:t>
            </a:r>
            <a:r>
              <a:rPr lang="en-US" altLang="ko-KR" sz="1800" dirty="0"/>
              <a:t> deterministic puzzle</a:t>
            </a:r>
            <a:r>
              <a:rPr lang="ko-KR" altLang="ko-KR" sz="1800" dirty="0"/>
              <a:t>과</a:t>
            </a:r>
            <a:r>
              <a:rPr lang="en-US" altLang="ko-KR" sz="1800" dirty="0"/>
              <a:t> sparse reward </a:t>
            </a:r>
            <a:r>
              <a:rPr lang="ko-KR" altLang="ko-KR" sz="1800" dirty="0"/>
              <a:t>환경에서 더욱 효율적이다</a:t>
            </a:r>
            <a:r>
              <a:rPr lang="en-US" altLang="ko-KR" sz="1800" dirty="0"/>
              <a:t>.</a:t>
            </a:r>
            <a:endParaRPr lang="ko-KR" altLang="ko-KR" sz="1800" dirty="0"/>
          </a:p>
        </p:txBody>
      </p:sp>
    </p:spTree>
    <p:extLst>
      <p:ext uri="{BB962C8B-B14F-4D97-AF65-F5344CB8AC3E}">
        <p14:creationId xmlns:p14="http://schemas.microsoft.com/office/powerpoint/2010/main" val="26564346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63EA48-DEEE-4315-9EC8-D2A699CB25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>
            <a:extLst>
              <a:ext uri="{FF2B5EF4-FFF2-40B4-BE49-F238E27FC236}">
                <a16:creationId xmlns:a16="http://schemas.microsoft.com/office/drawing/2014/main" id="{46F6EF0D-2A1B-7908-BA1A-60D3D53FFA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55695"/>
          </a:xfrm>
        </p:spPr>
        <p:txBody>
          <a:bodyPr>
            <a:normAutofit/>
          </a:bodyPr>
          <a:lstStyle/>
          <a:p>
            <a:r>
              <a:rPr lang="en-US" altLang="ko-KR" b="1" dirty="0"/>
              <a:t>6. </a:t>
            </a:r>
            <a:r>
              <a:rPr lang="ko-KR" altLang="ko-KR" b="1" dirty="0"/>
              <a:t>토의 및 결론</a:t>
            </a:r>
            <a:endParaRPr lang="en-US" altLang="ko-KR" sz="1800" dirty="0">
              <a:solidFill>
                <a:schemeClr val="tx1"/>
              </a:solidFill>
            </a:endParaRPr>
          </a:p>
        </p:txBody>
      </p:sp>
      <p:sp>
        <p:nvSpPr>
          <p:cNvPr id="2" name="슬라이드 번호 개체 틀 4">
            <a:extLst>
              <a:ext uri="{FF2B5EF4-FFF2-40B4-BE49-F238E27FC236}">
                <a16:creationId xmlns:a16="http://schemas.microsoft.com/office/drawing/2014/main" id="{1FAFDA33-3C33-74EC-99A5-F967A819F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167768A3-AC29-4B30-B97D-8EE275BA7DF4}" type="slidenum">
              <a:rPr lang="ko-KR" altLang="en-US" smtClean="0"/>
              <a:t>32</a:t>
            </a:fld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A87F32D-D655-272B-3C20-53607D976196}"/>
              </a:ext>
            </a:extLst>
          </p:cNvPr>
          <p:cNvSpPr txBox="1">
            <a:spLocks/>
          </p:cNvSpPr>
          <p:nvPr/>
        </p:nvSpPr>
        <p:spPr>
          <a:xfrm>
            <a:off x="2014" y="850651"/>
            <a:ext cx="12103510" cy="592771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1600" dirty="0">
              <a:solidFill>
                <a:schemeClr val="tx1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ko-KR" sz="1600" dirty="0">
              <a:solidFill>
                <a:schemeClr val="tx1"/>
              </a:solidFill>
            </a:endParaRP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B0AF1ABA-D124-0CE2-7B46-C74A3304AB40}"/>
              </a:ext>
            </a:extLst>
          </p:cNvPr>
          <p:cNvSpPr txBox="1">
            <a:spLocks/>
          </p:cNvSpPr>
          <p:nvPr/>
        </p:nvSpPr>
        <p:spPr>
          <a:xfrm>
            <a:off x="86476" y="865891"/>
            <a:ext cx="12103510" cy="592771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800" b="1" dirty="0"/>
              <a:t>(4) </a:t>
            </a:r>
            <a:r>
              <a:rPr lang="ko-KR" altLang="ko-KR" sz="1800" b="1" dirty="0"/>
              <a:t>문제 규모별</a:t>
            </a:r>
            <a:r>
              <a:rPr lang="en-US" altLang="ko-KR" sz="1800" b="1" dirty="0"/>
              <a:t> tailored hyperparameter tuning</a:t>
            </a:r>
            <a:endParaRPr lang="ko-KR" altLang="ko-KR" sz="1800" dirty="0"/>
          </a:p>
          <a:p>
            <a:pPr marL="0" indent="0">
              <a:buNone/>
            </a:pPr>
            <a:r>
              <a:rPr lang="ko-KR" altLang="ko-KR" sz="1800" dirty="0"/>
              <a:t>단일 파라미터를</a:t>
            </a:r>
            <a:r>
              <a:rPr lang="en-US" altLang="ko-KR" sz="1800" dirty="0"/>
              <a:t> 4×4</a:t>
            </a:r>
            <a:r>
              <a:rPr lang="ko-KR" altLang="ko-KR" sz="1800" dirty="0"/>
              <a:t>와</a:t>
            </a:r>
            <a:r>
              <a:rPr lang="en-US" altLang="ko-KR" sz="1800" dirty="0"/>
              <a:t> 9×9</a:t>
            </a:r>
            <a:r>
              <a:rPr lang="ko-KR" altLang="ko-KR" sz="1800" dirty="0"/>
              <a:t>에 동시에 적용하는 것은 바람직하지 않다</a:t>
            </a:r>
            <a:r>
              <a:rPr lang="en-US" altLang="ko-KR" sz="1800" dirty="0"/>
              <a:t>.</a:t>
            </a:r>
            <a:endParaRPr lang="ko-KR" altLang="ko-KR" sz="1800" dirty="0"/>
          </a:p>
          <a:p>
            <a:pPr marL="0" indent="0">
              <a:buNone/>
            </a:pPr>
            <a:r>
              <a:rPr lang="ko-KR" altLang="ko-KR" sz="1800" dirty="0"/>
              <a:t>향후에는</a:t>
            </a:r>
          </a:p>
          <a:p>
            <a:pPr marL="0" lvl="0" indent="0">
              <a:buNone/>
            </a:pPr>
            <a:r>
              <a:rPr lang="en-US" altLang="ko-KR" sz="1800" dirty="0"/>
              <a:t>4×4: </a:t>
            </a:r>
            <a:r>
              <a:rPr lang="ko-KR" altLang="ko-KR" sz="1800" dirty="0"/>
              <a:t>적은</a:t>
            </a:r>
            <a:r>
              <a:rPr lang="en-US" altLang="ko-KR" sz="1800" dirty="0"/>
              <a:t> rollout, </a:t>
            </a:r>
            <a:r>
              <a:rPr lang="ko-KR" altLang="ko-KR" sz="1800" dirty="0"/>
              <a:t>작은 모델</a:t>
            </a:r>
          </a:p>
          <a:p>
            <a:pPr marL="0" lvl="0" indent="0">
              <a:buNone/>
            </a:pPr>
            <a:r>
              <a:rPr lang="en-US" altLang="ko-KR" sz="1800" dirty="0"/>
              <a:t>9×9: </a:t>
            </a:r>
            <a:r>
              <a:rPr lang="ko-KR" altLang="ko-KR" sz="1800" dirty="0"/>
              <a:t>매우 긴</a:t>
            </a:r>
            <a:r>
              <a:rPr lang="en-US" altLang="ko-KR" sz="1800" dirty="0"/>
              <a:t> rollout, </a:t>
            </a:r>
            <a:r>
              <a:rPr lang="ko-KR" altLang="ko-KR" sz="1800" dirty="0"/>
              <a:t>더 낮은</a:t>
            </a:r>
            <a:r>
              <a:rPr lang="en-US" altLang="ko-KR" sz="1800" dirty="0"/>
              <a:t> learning rate, </a:t>
            </a:r>
            <a:r>
              <a:rPr lang="ko-KR" altLang="ko-KR" sz="1800" dirty="0"/>
              <a:t>더 높은 모델</a:t>
            </a:r>
            <a:r>
              <a:rPr lang="en-US" altLang="ko-KR" sz="1800" dirty="0"/>
              <a:t> capacity</a:t>
            </a:r>
            <a:endParaRPr lang="ko-KR" altLang="ko-KR" sz="1800" dirty="0"/>
          </a:p>
          <a:p>
            <a:pPr marL="0" lvl="0" indent="0">
              <a:buNone/>
            </a:pPr>
            <a:r>
              <a:rPr lang="en-US" altLang="ko-KR" sz="1800" dirty="0"/>
              <a:t>entropy annealing</a:t>
            </a:r>
            <a:endParaRPr lang="ko-KR" altLang="ko-KR" sz="1800" dirty="0"/>
          </a:p>
          <a:p>
            <a:pPr marL="0" lvl="0" indent="0">
              <a:buNone/>
            </a:pPr>
            <a:r>
              <a:rPr lang="ko-KR" altLang="ko-KR" sz="1800" dirty="0"/>
              <a:t>문제 난이도에 따른 파라미터 스케줄링</a:t>
            </a:r>
          </a:p>
          <a:p>
            <a:pPr marL="0" indent="0">
              <a:buNone/>
            </a:pPr>
            <a:r>
              <a:rPr lang="ko-KR" altLang="ko-KR" sz="1800" dirty="0"/>
              <a:t>등을 고려해야 보다 안정적인 학습이 가능하다</a:t>
            </a:r>
            <a:r>
              <a:rPr lang="en-US" altLang="ko-KR" sz="1800" dirty="0"/>
              <a:t>.</a:t>
            </a:r>
            <a:endParaRPr lang="ko-KR" altLang="ko-KR" sz="1800" dirty="0"/>
          </a:p>
        </p:txBody>
      </p:sp>
    </p:spTree>
    <p:extLst>
      <p:ext uri="{BB962C8B-B14F-4D97-AF65-F5344CB8AC3E}">
        <p14:creationId xmlns:p14="http://schemas.microsoft.com/office/powerpoint/2010/main" val="34391753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모양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사용자 지정 1">
      <a:majorFont>
        <a:latin typeface="맑은 고딕"/>
        <a:ea typeface="맑은 고딕"/>
        <a:cs typeface=""/>
      </a:majorFont>
      <a:minorFont>
        <a:latin typeface="맑은 고딕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ef11e8bc-0be7-4783-881f-dcb2a8e0e298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8F79156CDCC766459F4C1EDA8BA3940A" ma:contentTypeVersion="6" ma:contentTypeDescription="새 문서를 만듭니다." ma:contentTypeScope="" ma:versionID="e7a49df24228d221187c8daaa93c8058">
  <xsd:schema xmlns:xsd="http://www.w3.org/2001/XMLSchema" xmlns:xs="http://www.w3.org/2001/XMLSchema" xmlns:p="http://schemas.microsoft.com/office/2006/metadata/properties" xmlns:ns3="ef11e8bc-0be7-4783-881f-dcb2a8e0e298" targetNamespace="http://schemas.microsoft.com/office/2006/metadata/properties" ma:root="true" ma:fieldsID="0c480448838625e399a26f507066fac7" ns3:_="">
    <xsd:import namespace="ef11e8bc-0be7-4783-881f-dcb2a8e0e298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_activity" minOccurs="0"/>
                <xsd:element ref="ns3:MediaServiceObjectDetectorVersions" minOccurs="0"/>
                <xsd:element ref="ns3:MediaServiceSearchProperties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f11e8bc-0be7-4783-881f-dcb2a8e0e29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_activity" ma:index="10" nillable="true" ma:displayName="_activity" ma:hidden="true" ma:internalName="_activity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84673FE-BB92-4DE6-BF50-615312A1970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92D3E62-71CE-4ACD-A72D-79DBE20841EF}">
  <ds:schemaRefs>
    <ds:schemaRef ds:uri="ef11e8bc-0be7-4783-881f-dcb2a8e0e298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3D37837C-7909-4821-9A6F-DC20C4DBB781}">
  <ds:schemaRefs>
    <ds:schemaRef ds:uri="ef11e8bc-0be7-4783-881f-dcb2a8e0e29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14306</TotalTime>
  <Words>2067</Words>
  <Application>Microsoft Office PowerPoint</Application>
  <PresentationFormat>와이드스크린</PresentationFormat>
  <Paragraphs>344</Paragraphs>
  <Slides>32</Slides>
  <Notes>31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32</vt:i4>
      </vt:variant>
    </vt:vector>
  </HeadingPairs>
  <TitlesOfParts>
    <vt:vector size="36" baseType="lpstr">
      <vt:lpstr>맑은 고딕</vt:lpstr>
      <vt:lpstr>Arial</vt:lpstr>
      <vt:lpstr>Cambria Math</vt:lpstr>
      <vt:lpstr>Office 테마</vt:lpstr>
      <vt:lpstr>AIE5101 프로젝트 보고서</vt:lpstr>
      <vt:lpstr>목차</vt:lpstr>
      <vt:lpstr>1. 연구 목적</vt:lpstr>
      <vt:lpstr>2. 환경 및 문제 설계 </vt:lpstr>
      <vt:lpstr>2. 환경 및 문제 설계 </vt:lpstr>
      <vt:lpstr>2. 환경 및 문제 설계 </vt:lpstr>
      <vt:lpstr>2. 환경 및 문제 설계 </vt:lpstr>
      <vt:lpstr>2. 환경 및 문제 설계 </vt:lpstr>
      <vt:lpstr>2. 환경 및 문제 설계 </vt:lpstr>
      <vt:lpstr>2. 환경 및 문제 설계 </vt:lpstr>
      <vt:lpstr>2. 환경 및 문제 설계 </vt:lpstr>
      <vt:lpstr>3. 강화학습 알고리즘 설계 </vt:lpstr>
      <vt:lpstr>3. 강화학습 알고리즘 설계 </vt:lpstr>
      <vt:lpstr>3. 강화학습 알고리즘 설계 </vt:lpstr>
      <vt:lpstr>3. 강화학습 알고리즘 설계 </vt:lpstr>
      <vt:lpstr>3. 강화학습 알고리즘 설계 </vt:lpstr>
      <vt:lpstr>4. 실험 셋업</vt:lpstr>
      <vt:lpstr>4. 실험 셋업</vt:lpstr>
      <vt:lpstr>4. 실험 셋업</vt:lpstr>
      <vt:lpstr>4. 실험 셋업</vt:lpstr>
      <vt:lpstr>4. 실험 셋업</vt:lpstr>
      <vt:lpstr>5. 실험 결과</vt:lpstr>
      <vt:lpstr>5. 실험 결과</vt:lpstr>
      <vt:lpstr>5. 실험 결과</vt:lpstr>
      <vt:lpstr>5. 실험 결과</vt:lpstr>
      <vt:lpstr>5. 실험 결과</vt:lpstr>
      <vt:lpstr>6. 토의 및 결론 </vt:lpstr>
      <vt:lpstr>6. 토의 및 결론 </vt:lpstr>
      <vt:lpstr>6. 토의 및 결론</vt:lpstr>
      <vt:lpstr>6. 토의 및 결론</vt:lpstr>
      <vt:lpstr>6. 토의 및 결론</vt:lpstr>
      <vt:lpstr>6. 토의 및 결론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이수현</dc:creator>
  <cp:lastModifiedBy>임대규</cp:lastModifiedBy>
  <cp:revision>77</cp:revision>
  <dcterms:created xsi:type="dcterms:W3CDTF">2023-03-27T11:18:40Z</dcterms:created>
  <dcterms:modified xsi:type="dcterms:W3CDTF">2025-12-07T14:05:53Z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0x0101008F79156CDCC766459F4C1EDA8BA3940A</vt:lpwstr>
  </property>
</Properties>
</file>